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FFFFF"/>
                </a:solidFill>
                <a:latin typeface="+mn-lt"/>
              </a:defRPr>
            </a:pPr>
            <a:r>
              <a:rPr lang="en-US" sz="1400" b="0" i="0" u="none" strike="noStrike">
                <a:solidFill>
                  <a:srgbClr val="FFFFFF"/>
                </a:solidFill>
                <a:latin typeface="+mn-lt"/>
              </a:rPr>
              <a:t>Robustness: images verified AUTHENTIC after attack (%)</a:t>
            </a:r>
          </a:p>
        </c:rich>
      </c:tx>
      <c:overlay val="0"/>
    </c:title>
    <c:autoTitleDeleted val="0"/>
    <c:plotArea>
      <c:layout/>
      <c:barChart>
        <c:barDir val="bar"/>
        <c:grouping val="clustered"/>
        <c:varyColors val="0"/>
        <c:ser>
          <c:idx val="0"/>
          <c:order val="0"/>
          <c:tx>
            <c:strRef>
              <c:f>Sheet1!$B$1</c:f>
              <c:strCache>
                <c:ptCount val="1"/>
                <c:pt idx="0">
                  <c:v>Verified AUTHENTIC (%)</c:v>
                </c:pt>
              </c:strCache>
            </c:strRef>
          </c:tx>
          <c:spPr>
            <a:solidFill>
              <a:srgbClr val="14B8A6"/>
            </a:solidFill>
            <a:effectLst/>
          </c:spPr>
          <c:invertIfNegative val="0"/>
          <c:dLbls>
            <c:numFmt formatCode="#,##0" sourceLinked="0"/>
            <c:spPr>
              <a:noFill/>
              <a:ln>
                <a:noFill/>
              </a:ln>
              <a:effectLst/>
            </c:spPr>
            <c:txPr>
              <a:bodyPr/>
              <a:lstStyle/>
              <a:p>
                <a:pPr>
                  <a:defRPr sz="1100" b="0" i="0" u="none" strike="noStrike">
                    <a:solidFill>
                      <a:srgbClr val="FFFFF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No attack</c:v>
                </c:pt>
                <c:pt idx="1">
                  <c:v>JPEG q=90</c:v>
                </c:pt>
                <c:pt idx="2">
                  <c:v>JPEG q=75</c:v>
                </c:pt>
                <c:pt idx="3">
                  <c:v>JPEG q=50</c:v>
                </c:pt>
                <c:pt idx="4">
                  <c:v>Noise s=3</c:v>
                </c:pt>
                <c:pt idx="5">
                  <c:v>Noise s=8</c:v>
                </c:pt>
                <c:pt idx="6">
                  <c:v>Brightness x1.1</c:v>
                </c:pt>
                <c:pt idx="7">
                  <c:v>Rescale 50%</c:v>
                </c:pt>
                <c:pt idx="8">
                  <c:v>Blur r=0.6</c:v>
                </c:pt>
                <c:pt idx="9">
                  <c:v>Blur r=1.0</c:v>
                </c:pt>
                <c:pt idx="10">
                  <c:v>Crop 90%</c:v>
                </c:pt>
              </c:strCache>
            </c:strRef>
          </c:cat>
          <c:val>
            <c:numRef>
              <c:f>Sheet1!$B$2:$B$12</c:f>
              <c:numCache>
                <c:formatCode>General</c:formatCode>
                <c:ptCount val="11"/>
                <c:pt idx="0">
                  <c:v>100</c:v>
                </c:pt>
                <c:pt idx="1">
                  <c:v>100</c:v>
                </c:pt>
                <c:pt idx="2">
                  <c:v>100</c:v>
                </c:pt>
                <c:pt idx="3">
                  <c:v>100</c:v>
                </c:pt>
                <c:pt idx="4">
                  <c:v>100</c:v>
                </c:pt>
                <c:pt idx="5">
                  <c:v>100</c:v>
                </c:pt>
                <c:pt idx="6">
                  <c:v>100</c:v>
                </c:pt>
                <c:pt idx="7">
                  <c:v>100</c:v>
                </c:pt>
                <c:pt idx="8">
                  <c:v>100</c:v>
                </c:pt>
                <c:pt idx="9">
                  <c:v>0</c:v>
                </c:pt>
                <c:pt idx="10">
                  <c:v>0</c:v>
                </c:pt>
              </c:numCache>
            </c:numRef>
          </c:val>
          <c:extLst>
            <c:ext xmlns:c16="http://schemas.microsoft.com/office/drawing/2014/chart" uri="{C3380CC4-5D6E-409C-BE32-E72D297353CC}">
              <c16:uniqueId val="{00000000-A7E7-4A74-A860-7EA2FBE649AA}"/>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B8C7DC"/>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0"/>
        <c:axPos val="t"/>
        <c:majorGridlines>
          <c:spPr>
            <a:ln w="6350" cap="flat">
              <a:solidFill>
                <a:srgbClr val="2A4A7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B8C7DC"/>
                </a:solidFill>
                <a:latin typeface="+mn-lt"/>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7816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AuthMark signs AI-generated images with an invisible watermark and later verifies authenticity and locates tampering. Introduce team members and faculty.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provenance via metadata does not survive sharing, and AI edits are invisible. The watermark lives in the pixels, so it travels with the image.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 is the one-sentence goal. Objectives are measurable. Be upfront about the boundary: crop, rotation, strong blur and full regeneration are outside what this version handles.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layman terms: sign, hide, share, verify. The invisible-ink letter analogy: same idea. Then explain the three verdicts shown on the left.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plain Python with NumPy/SciPy; the DWT is hand-written Haar so there is no heavy dependency. Security comes from HMAC-SHA256 with a secret key.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signing service, hostile distribution channel, verification service. Green boxes survive, amber is detected, red breaks the mark. Both services share the secret key and are reached through the Streamlit UI or CLI.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 to YCbCr, take Y, Haar DWT, and work in the LL band with 8x8 DCT blocks. Six mid-frequency coefficients per block are quantized onto the lattice for bit 0 or bit 1. A larger delta is more robust but less invisible.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 bits by soft majority vote after a gain search for brightness changes. If the recomputed HMAC fails: NOT_VERIFIED. Otherwise compare each block with the consensus, filter, label regions, and apply the 2 percent area threshold.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Imperceptibility: PSNR 42.2 dB and SSIM 0.982. Robustness: the mark verifies on 8 of 8 images after JPEG down to quality 50, noise up to sigma 8, brightness 1.1, 50 percent rescale, and light blur. Blur radius 1.0 and cropping break it, which is the stated boundary. Verification: all 8 pasted-patch edits at both sizes were flagged TAMPERED and there were no false accepts among 16 unsigned or wrong-key checks.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achievements, be honest about limitations, then point to future work. Offer a live demo: sign an image, verify it, then verify the tampered copy.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640080" y="822960"/>
            <a:ext cx="6949440" cy="1005840"/>
          </a:xfrm>
          <a:prstGeom prst="rect">
            <a:avLst/>
          </a:prstGeom>
          <a:noFill/>
          <a:ln/>
        </p:spPr>
        <p:txBody>
          <a:bodyPr wrap="square" lIns="0" tIns="0" rIns="0" bIns="0" rtlCol="0" anchor="ctr"/>
          <a:lstStyle/>
          <a:p>
            <a:pPr marL="0" indent="0">
              <a:buNone/>
            </a:pPr>
            <a:r>
              <a:rPr lang="en-US" sz="6000" b="1" dirty="0">
                <a:solidFill>
                  <a:schemeClr val="bg1"/>
                </a:solidFill>
                <a:latin typeface="Cambria" pitchFamily="34" charset="0"/>
                <a:ea typeface="Cambria" pitchFamily="34" charset="-122"/>
                <a:cs typeface="Cambria" pitchFamily="34" charset="-120"/>
              </a:rPr>
              <a:t>AuthMark</a:t>
            </a:r>
            <a:endParaRPr lang="en-US" sz="6000" dirty="0"/>
          </a:p>
        </p:txBody>
      </p:sp>
      <p:sp>
        <p:nvSpPr>
          <p:cNvPr id="3" name="Subtitle"/>
          <p:cNvSpPr txBox="1"/>
          <p:nvPr/>
        </p:nvSpPr>
        <p:spPr>
          <a:xfrm>
            <a:off x="640080" y="1874520"/>
            <a:ext cx="6766560" cy="914400"/>
          </a:xfrm>
          <a:prstGeom prst="rect">
            <a:avLst/>
          </a:prstGeom>
          <a:noFill/>
          <a:ln/>
        </p:spPr>
        <p:txBody>
          <a:bodyPr wrap="square" lIns="0" tIns="0" rIns="0" bIns="0" rtlCol="0" anchor="t"/>
          <a:lstStyle/>
          <a:p>
            <a:pPr marL="0" indent="0">
              <a:buNone/>
            </a:pPr>
            <a:r>
              <a:rPr lang="en-US" sz="2400" dirty="0">
                <a:solidFill>
                  <a:schemeClr val="bg1"/>
                </a:solidFill>
              </a:rPr>
              <a:t>AI Image Authenticity Verification Using Invisible Digital Watermarking</a:t>
            </a:r>
          </a:p>
        </p:txBody>
      </p:sp>
      <p:sp>
        <p:nvSpPr>
          <p:cNvPr id="4" name="Course"/>
          <p:cNvSpPr txBox="1"/>
          <p:nvPr/>
        </p:nvSpPr>
        <p:spPr>
          <a:xfrm>
            <a:off x="640080" y="3063240"/>
            <a:ext cx="6766560" cy="411480"/>
          </a:xfrm>
          <a:prstGeom prst="rect">
            <a:avLst/>
          </a:prstGeom>
          <a:noFill/>
          <a:ln/>
        </p:spPr>
        <p:txBody>
          <a:bodyPr wrap="square" lIns="0" tIns="0" rIns="0" bIns="0" rtlCol="0" anchor="ctr"/>
          <a:lstStyle/>
          <a:p>
            <a:pPr marL="0" indent="0">
              <a:buNone/>
            </a:pPr>
            <a:r>
              <a:rPr lang="en-US" sz="1800" i="1" dirty="0">
                <a:solidFill>
                  <a:schemeClr val="bg2"/>
                </a:solidFill>
              </a:rPr>
              <a:t>Digital Watermarking and Steganography</a:t>
            </a:r>
            <a:endParaRPr lang="en-US" sz="1800" dirty="0"/>
          </a:p>
        </p:txBody>
      </p:sp>
      <p:sp>
        <p:nvSpPr>
          <p:cNvPr id="5" name="Team card"/>
          <p:cNvSpPr/>
          <p:nvPr/>
        </p:nvSpPr>
        <p:spPr>
          <a:xfrm>
            <a:off x="640080" y="3840480"/>
            <a:ext cx="6766560" cy="2148840"/>
          </a:xfrm>
          <a:prstGeom prst="roundRect">
            <a:avLst>
              <a:gd name="adj" fmla="val 5106"/>
            </a:avLst>
          </a:prstGeom>
          <a:solidFill>
            <a:schemeClr val="tx2"/>
          </a:solidFill>
          <a:ln w="12700">
            <a:solidFill>
              <a:schemeClr val="tx2"/>
            </a:solidFill>
            <a:prstDash val="solid"/>
          </a:ln>
        </p:spPr>
      </p:sp>
      <p:sp>
        <p:nvSpPr>
          <p:cNvPr id="6" name="Team details"/>
          <p:cNvSpPr txBox="1"/>
          <p:nvPr/>
        </p:nvSpPr>
        <p:spPr>
          <a:xfrm>
            <a:off x="914400" y="3977640"/>
            <a:ext cx="6309360" cy="1874520"/>
          </a:xfrm>
          <a:prstGeom prst="rect">
            <a:avLst/>
          </a:prstGeom>
          <a:noFill/>
          <a:ln/>
        </p:spPr>
        <p:txBody>
          <a:bodyPr wrap="square" lIns="0" tIns="0" rIns="0" bIns="0" rtlCol="0" anchor="ctr"/>
          <a:lstStyle/>
          <a:p>
            <a:pPr marL="0" indent="0">
              <a:spcAft>
                <a:spcPts val="800"/>
              </a:spcAft>
              <a:buNone/>
            </a:pPr>
            <a:r>
              <a:rPr lang="en-US" sz="2000" b="1" dirty="0">
                <a:solidFill>
                  <a:schemeClr val="bg1"/>
                </a:solidFill>
              </a:rPr>
              <a:t>Gaurish Todi 23BCI0262</a:t>
            </a:r>
            <a:r>
              <a:rPr lang="en-US" sz="2000" dirty="0">
                <a:solidFill>
                  <a:schemeClr val="accent1"/>
                </a:solidFill>
              </a:rPr>
              <a:t>   </a:t>
            </a:r>
            <a:endParaRPr lang="en-US" sz="2000" dirty="0"/>
          </a:p>
          <a:p>
            <a:pPr marL="0" indent="0">
              <a:spcAft>
                <a:spcPts val="800"/>
              </a:spcAft>
              <a:buNone/>
            </a:pPr>
            <a:r>
              <a:rPr lang="en-US" sz="2000" b="1" dirty="0">
                <a:solidFill>
                  <a:schemeClr val="bg1"/>
                </a:solidFill>
              </a:rPr>
              <a:t>Prakamya Bhuvi 23BCI0256</a:t>
            </a:r>
            <a:r>
              <a:rPr lang="en-US" sz="2000" dirty="0">
                <a:solidFill>
                  <a:schemeClr val="accent1"/>
                </a:solidFill>
              </a:rPr>
              <a:t>  </a:t>
            </a:r>
            <a:endParaRPr lang="en-US" sz="2000" dirty="0"/>
          </a:p>
          <a:p>
            <a:pPr marL="0" indent="0">
              <a:spcAft>
                <a:spcPts val="800"/>
              </a:spcAft>
              <a:buNone/>
            </a:pPr>
            <a:r>
              <a:rPr lang="en-US" sz="2000" dirty="0">
                <a:solidFill>
                  <a:schemeClr val="bg2"/>
                </a:solidFill>
              </a:rPr>
              <a:t>Faculty: Dr. Diviya M.</a:t>
            </a:r>
            <a:endParaRPr lang="en-US" sz="2000" dirty="0"/>
          </a:p>
        </p:txBody>
      </p:sp>
      <p:sp>
        <p:nvSpPr>
          <p:cNvPr id="7" name="Logo card"/>
          <p:cNvSpPr/>
          <p:nvPr/>
        </p:nvSpPr>
        <p:spPr>
          <a:xfrm>
            <a:off x="8138160" y="1371600"/>
            <a:ext cx="3474720" cy="3474720"/>
          </a:xfrm>
          <a:prstGeom prst="roundRect">
            <a:avLst>
              <a:gd name="adj" fmla="val 5263"/>
            </a:avLst>
          </a:prstGeom>
          <a:solidFill>
            <a:schemeClr val="bg1"/>
          </a:solidFill>
          <a:ln w="38100">
            <a:solidFill>
              <a:schemeClr val="accent1"/>
            </a:solidFill>
            <a:prstDash val="solid"/>
          </a:ln>
        </p:spPr>
      </p:sp>
      <p:pic>
        <p:nvPicPr>
          <p:cNvPr id="8" name="VIT logo" descr="Vellore Institute of Technology logo"/>
          <p:cNvPicPr>
            <a:picLocks noChangeAspect="1"/>
          </p:cNvPicPr>
          <p:nvPr/>
        </p:nvPicPr>
        <p:blipFill>
          <a:blip r:embed="rId3"/>
          <a:stretch>
            <a:fillRect/>
          </a:stretch>
        </p:blipFill>
        <p:spPr>
          <a:xfrm>
            <a:off x="8275320" y="1508760"/>
            <a:ext cx="3200400" cy="3200400"/>
          </a:xfrm>
          <a:prstGeom prst="rect">
            <a:avLst/>
          </a:prstGeom>
        </p:spPr>
      </p:pic>
      <p:sp>
        <p:nvSpPr>
          <p:cNvPr id="9" name="Institute"/>
          <p:cNvSpPr txBox="1"/>
          <p:nvPr/>
        </p:nvSpPr>
        <p:spPr>
          <a:xfrm>
            <a:off x="7589520" y="5120640"/>
            <a:ext cx="4572000" cy="457200"/>
          </a:xfrm>
          <a:prstGeom prst="rect">
            <a:avLst/>
          </a:prstGeom>
          <a:noFill/>
          <a:ln/>
        </p:spPr>
        <p:txBody>
          <a:bodyPr wrap="square" lIns="0" tIns="0" rIns="0" bIns="0" rtlCol="0" anchor="ctr"/>
          <a:lstStyle/>
          <a:p>
            <a:pPr marL="0" indent="0" algn="ctr">
              <a:buNone/>
            </a:pPr>
            <a:r>
              <a:rPr lang="en-US" sz="1800" b="1" dirty="0">
                <a:solidFill>
                  <a:schemeClr val="bg1"/>
                </a:solidFill>
              </a:rPr>
              <a:t>Vellore Institute of Technology, Vellore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bg1"/>
                </a:solidFill>
              </a:rPr>
              <a:t>Problem Statement: Images Can No Longer Be Trusted</a:t>
            </a:r>
            <a:endParaRPr lang="en-US" sz="3200" dirty="0"/>
          </a:p>
        </p:txBody>
      </p:sp>
      <p:sp>
        <p:nvSpPr>
          <p:cNvPr id="3" name="Problem card 1"/>
          <p:cNvSpPr/>
          <p:nvPr/>
        </p:nvSpPr>
        <p:spPr>
          <a:xfrm>
            <a:off x="548640" y="1371600"/>
            <a:ext cx="5440680" cy="1691640"/>
          </a:xfrm>
          <a:prstGeom prst="roundRect">
            <a:avLst>
              <a:gd name="adj" fmla="val 6486"/>
            </a:avLst>
          </a:prstGeom>
          <a:solidFill>
            <a:schemeClr val="tx2"/>
          </a:solidFill>
          <a:ln w="12700">
            <a:solidFill>
              <a:schemeClr val="tx2"/>
            </a:solidFill>
            <a:prstDash val="solid"/>
          </a:ln>
        </p:spPr>
      </p:sp>
      <p:sp>
        <p:nvSpPr>
          <p:cNvPr id="4" name="Number badge 1"/>
          <p:cNvSpPr/>
          <p:nvPr/>
        </p:nvSpPr>
        <p:spPr>
          <a:xfrm>
            <a:off x="777240" y="1600200"/>
            <a:ext cx="457200" cy="457200"/>
          </a:xfrm>
          <a:prstGeom prst="ellipse">
            <a:avLst/>
          </a:prstGeom>
          <a:solidFill>
            <a:schemeClr val="accent1"/>
          </a:solidFill>
          <a:ln w="12700">
            <a:solidFill>
              <a:schemeClr val="accent1"/>
            </a:solidFill>
            <a:prstDash val="solid"/>
          </a:ln>
        </p:spPr>
      </p:sp>
      <p:sp>
        <p:nvSpPr>
          <p:cNvPr id="5" name="Number 1"/>
          <p:cNvSpPr txBox="1"/>
          <p:nvPr/>
        </p:nvSpPr>
        <p:spPr>
          <a:xfrm>
            <a:off x="777240" y="1600200"/>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6" name="Problem heading 1"/>
          <p:cNvSpPr txBox="1"/>
          <p:nvPr/>
        </p:nvSpPr>
        <p:spPr>
          <a:xfrm>
            <a:off x="1417320" y="1554480"/>
            <a:ext cx="4389120" cy="457200"/>
          </a:xfrm>
          <a:prstGeom prst="rect">
            <a:avLst/>
          </a:prstGeom>
          <a:noFill/>
          <a:ln/>
        </p:spPr>
        <p:txBody>
          <a:bodyPr wrap="square" lIns="0" tIns="0" rIns="0" bIns="0" rtlCol="0" anchor="ctr"/>
          <a:lstStyle/>
          <a:p>
            <a:pPr marL="0" indent="0">
              <a:buNone/>
            </a:pPr>
            <a:r>
              <a:rPr lang="en-US" sz="2000" b="1" dirty="0">
                <a:solidFill>
                  <a:schemeClr val="bg1"/>
                </a:solidFill>
              </a:rPr>
              <a:t>AI images look real</a:t>
            </a:r>
            <a:endParaRPr lang="en-US" sz="2000" dirty="0"/>
          </a:p>
        </p:txBody>
      </p:sp>
      <p:sp>
        <p:nvSpPr>
          <p:cNvPr id="7" name="Problem text 1"/>
          <p:cNvSpPr txBox="1"/>
          <p:nvPr/>
        </p:nvSpPr>
        <p:spPr>
          <a:xfrm>
            <a:off x="1417320" y="2057400"/>
            <a:ext cx="4389120" cy="914400"/>
          </a:xfrm>
          <a:prstGeom prst="rect">
            <a:avLst/>
          </a:prstGeom>
          <a:noFill/>
          <a:ln/>
        </p:spPr>
        <p:txBody>
          <a:bodyPr wrap="square" lIns="0" tIns="0" rIns="0" bIns="0" rtlCol="0" anchor="t"/>
          <a:lstStyle/>
          <a:p>
            <a:pPr marL="0" indent="0">
              <a:buNone/>
            </a:pPr>
            <a:r>
              <a:rPr lang="en-US" sz="1400" dirty="0">
                <a:solidFill>
                  <a:schemeClr val="bg2"/>
                </a:solidFill>
              </a:rPr>
              <a:t>Generative models produce photos that people and basic tools cannot tell apart from camera photos.</a:t>
            </a:r>
            <a:endParaRPr lang="en-US" sz="1400" dirty="0"/>
          </a:p>
        </p:txBody>
      </p:sp>
      <p:sp>
        <p:nvSpPr>
          <p:cNvPr id="8" name="Problem card 2"/>
          <p:cNvSpPr/>
          <p:nvPr/>
        </p:nvSpPr>
        <p:spPr>
          <a:xfrm>
            <a:off x="6126480" y="1371600"/>
            <a:ext cx="5440680" cy="1691640"/>
          </a:xfrm>
          <a:prstGeom prst="roundRect">
            <a:avLst>
              <a:gd name="adj" fmla="val 6486"/>
            </a:avLst>
          </a:prstGeom>
          <a:solidFill>
            <a:schemeClr val="tx2"/>
          </a:solidFill>
          <a:ln w="12700">
            <a:solidFill>
              <a:schemeClr val="tx2"/>
            </a:solidFill>
            <a:prstDash val="solid"/>
          </a:ln>
        </p:spPr>
      </p:sp>
      <p:sp>
        <p:nvSpPr>
          <p:cNvPr id="9" name="Number badge 2"/>
          <p:cNvSpPr/>
          <p:nvPr/>
        </p:nvSpPr>
        <p:spPr>
          <a:xfrm>
            <a:off x="6355080" y="1600200"/>
            <a:ext cx="457200" cy="457200"/>
          </a:xfrm>
          <a:prstGeom prst="ellipse">
            <a:avLst/>
          </a:prstGeom>
          <a:solidFill>
            <a:schemeClr val="accent1"/>
          </a:solidFill>
          <a:ln w="12700">
            <a:solidFill>
              <a:schemeClr val="accent1"/>
            </a:solidFill>
            <a:prstDash val="solid"/>
          </a:ln>
        </p:spPr>
      </p:sp>
      <p:sp>
        <p:nvSpPr>
          <p:cNvPr id="10" name="Number 2"/>
          <p:cNvSpPr txBox="1"/>
          <p:nvPr/>
        </p:nvSpPr>
        <p:spPr>
          <a:xfrm>
            <a:off x="6355080" y="1600200"/>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1" name="Problem heading 2"/>
          <p:cNvSpPr txBox="1"/>
          <p:nvPr/>
        </p:nvSpPr>
        <p:spPr>
          <a:xfrm>
            <a:off x="6995160" y="1554480"/>
            <a:ext cx="4389120" cy="457200"/>
          </a:xfrm>
          <a:prstGeom prst="rect">
            <a:avLst/>
          </a:prstGeom>
          <a:noFill/>
          <a:ln/>
        </p:spPr>
        <p:txBody>
          <a:bodyPr wrap="square" lIns="0" tIns="0" rIns="0" bIns="0" rtlCol="0" anchor="ctr"/>
          <a:lstStyle/>
          <a:p>
            <a:pPr marL="0" indent="0">
              <a:buNone/>
            </a:pPr>
            <a:r>
              <a:rPr lang="en-US" sz="2000" b="1" dirty="0">
                <a:solidFill>
                  <a:schemeClr val="bg1"/>
                </a:solidFill>
              </a:rPr>
              <a:t>Metadata is fragile</a:t>
            </a:r>
            <a:endParaRPr lang="en-US" sz="2000" dirty="0"/>
          </a:p>
        </p:txBody>
      </p:sp>
      <p:sp>
        <p:nvSpPr>
          <p:cNvPr id="12" name="Problem text 2"/>
          <p:cNvSpPr txBox="1"/>
          <p:nvPr/>
        </p:nvSpPr>
        <p:spPr>
          <a:xfrm>
            <a:off x="6995160" y="2057400"/>
            <a:ext cx="4389120" cy="914400"/>
          </a:xfrm>
          <a:prstGeom prst="rect">
            <a:avLst/>
          </a:prstGeom>
          <a:noFill/>
          <a:ln/>
        </p:spPr>
        <p:txBody>
          <a:bodyPr wrap="square" lIns="0" tIns="0" rIns="0" bIns="0" rtlCol="0" anchor="t"/>
          <a:lstStyle/>
          <a:p>
            <a:pPr marL="0" indent="0">
              <a:buNone/>
            </a:pPr>
            <a:r>
              <a:rPr lang="en-US" sz="1400" dirty="0">
                <a:solidFill>
                  <a:schemeClr val="bg2"/>
                </a:solidFill>
              </a:rPr>
              <a:t>EXIF and provenance tags vanish the moment an image is screenshotted, re-saved or shared on social media.</a:t>
            </a:r>
            <a:endParaRPr lang="en-US" sz="1400" dirty="0"/>
          </a:p>
        </p:txBody>
      </p:sp>
      <p:sp>
        <p:nvSpPr>
          <p:cNvPr id="13" name="Problem card 3"/>
          <p:cNvSpPr/>
          <p:nvPr/>
        </p:nvSpPr>
        <p:spPr>
          <a:xfrm>
            <a:off x="548640" y="3246120"/>
            <a:ext cx="5440680" cy="1691640"/>
          </a:xfrm>
          <a:prstGeom prst="roundRect">
            <a:avLst>
              <a:gd name="adj" fmla="val 6486"/>
            </a:avLst>
          </a:prstGeom>
          <a:solidFill>
            <a:schemeClr val="tx2"/>
          </a:solidFill>
          <a:ln w="12700">
            <a:solidFill>
              <a:schemeClr val="tx2"/>
            </a:solidFill>
            <a:prstDash val="solid"/>
          </a:ln>
        </p:spPr>
      </p:sp>
      <p:sp>
        <p:nvSpPr>
          <p:cNvPr id="14" name="Number badge 3"/>
          <p:cNvSpPr/>
          <p:nvPr/>
        </p:nvSpPr>
        <p:spPr>
          <a:xfrm>
            <a:off x="777240" y="3474720"/>
            <a:ext cx="457200" cy="457200"/>
          </a:xfrm>
          <a:prstGeom prst="ellipse">
            <a:avLst/>
          </a:prstGeom>
          <a:solidFill>
            <a:schemeClr val="accent1"/>
          </a:solidFill>
          <a:ln w="12700">
            <a:solidFill>
              <a:schemeClr val="accent1"/>
            </a:solidFill>
            <a:prstDash val="solid"/>
          </a:ln>
        </p:spPr>
      </p:sp>
      <p:sp>
        <p:nvSpPr>
          <p:cNvPr id="15" name="Number 3"/>
          <p:cNvSpPr txBox="1"/>
          <p:nvPr/>
        </p:nvSpPr>
        <p:spPr>
          <a:xfrm>
            <a:off x="777240" y="3474720"/>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6" name="Problem heading 3"/>
          <p:cNvSpPr txBox="1"/>
          <p:nvPr/>
        </p:nvSpPr>
        <p:spPr>
          <a:xfrm>
            <a:off x="1417320" y="3429000"/>
            <a:ext cx="4389120" cy="457200"/>
          </a:xfrm>
          <a:prstGeom prst="rect">
            <a:avLst/>
          </a:prstGeom>
          <a:noFill/>
          <a:ln/>
        </p:spPr>
        <p:txBody>
          <a:bodyPr wrap="square" lIns="0" tIns="0" rIns="0" bIns="0" rtlCol="0" anchor="ctr"/>
          <a:lstStyle/>
          <a:p>
            <a:pPr marL="0" indent="0">
              <a:buNone/>
            </a:pPr>
            <a:r>
              <a:rPr lang="en-US" sz="2000" b="1" dirty="0">
                <a:solidFill>
                  <a:schemeClr val="bg1"/>
                </a:solidFill>
              </a:rPr>
              <a:t>Edits go unnoticed</a:t>
            </a:r>
            <a:endParaRPr lang="en-US" sz="2000" dirty="0"/>
          </a:p>
        </p:txBody>
      </p:sp>
      <p:sp>
        <p:nvSpPr>
          <p:cNvPr id="17" name="Problem text 3"/>
          <p:cNvSpPr txBox="1"/>
          <p:nvPr/>
        </p:nvSpPr>
        <p:spPr>
          <a:xfrm>
            <a:off x="1417320" y="3931920"/>
            <a:ext cx="4389120" cy="914400"/>
          </a:xfrm>
          <a:prstGeom prst="rect">
            <a:avLst/>
          </a:prstGeom>
          <a:noFill/>
          <a:ln/>
        </p:spPr>
        <p:txBody>
          <a:bodyPr wrap="square" lIns="0" tIns="0" rIns="0" bIns="0" rtlCol="0" anchor="t"/>
          <a:lstStyle/>
          <a:p>
            <a:pPr marL="0" indent="0">
              <a:buNone/>
            </a:pPr>
            <a:r>
              <a:rPr lang="en-US" sz="1400" dirty="0">
                <a:solidFill>
                  <a:schemeClr val="bg2"/>
                </a:solidFill>
              </a:rPr>
              <a:t>A small local change (swapped face, removed object) is invisible to the eye and gives no proof of where it happened.</a:t>
            </a:r>
            <a:endParaRPr lang="en-US" sz="1400" dirty="0"/>
          </a:p>
        </p:txBody>
      </p:sp>
      <p:sp>
        <p:nvSpPr>
          <p:cNvPr id="18" name="Problem card 4"/>
          <p:cNvSpPr/>
          <p:nvPr/>
        </p:nvSpPr>
        <p:spPr>
          <a:xfrm>
            <a:off x="6126480" y="3246120"/>
            <a:ext cx="5440680" cy="1691640"/>
          </a:xfrm>
          <a:prstGeom prst="roundRect">
            <a:avLst>
              <a:gd name="adj" fmla="val 6486"/>
            </a:avLst>
          </a:prstGeom>
          <a:solidFill>
            <a:schemeClr val="tx2"/>
          </a:solidFill>
          <a:ln w="12700">
            <a:solidFill>
              <a:schemeClr val="tx2"/>
            </a:solidFill>
            <a:prstDash val="solid"/>
          </a:ln>
        </p:spPr>
      </p:sp>
      <p:sp>
        <p:nvSpPr>
          <p:cNvPr id="19" name="Number badge 4"/>
          <p:cNvSpPr/>
          <p:nvPr/>
        </p:nvSpPr>
        <p:spPr>
          <a:xfrm>
            <a:off x="6355080" y="3474720"/>
            <a:ext cx="457200" cy="457200"/>
          </a:xfrm>
          <a:prstGeom prst="ellipse">
            <a:avLst/>
          </a:prstGeom>
          <a:solidFill>
            <a:schemeClr val="accent1"/>
          </a:solidFill>
          <a:ln w="12700">
            <a:solidFill>
              <a:schemeClr val="accent1"/>
            </a:solidFill>
            <a:prstDash val="solid"/>
          </a:ln>
        </p:spPr>
      </p:sp>
      <p:sp>
        <p:nvSpPr>
          <p:cNvPr id="20" name="Number 4"/>
          <p:cNvSpPr txBox="1"/>
          <p:nvPr/>
        </p:nvSpPr>
        <p:spPr>
          <a:xfrm>
            <a:off x="6355080" y="3474720"/>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21" name="Problem heading 4"/>
          <p:cNvSpPr txBox="1"/>
          <p:nvPr/>
        </p:nvSpPr>
        <p:spPr>
          <a:xfrm>
            <a:off x="6995160" y="3429000"/>
            <a:ext cx="4389120" cy="457200"/>
          </a:xfrm>
          <a:prstGeom prst="rect">
            <a:avLst/>
          </a:prstGeom>
          <a:noFill/>
          <a:ln/>
        </p:spPr>
        <p:txBody>
          <a:bodyPr wrap="square" lIns="0" tIns="0" rIns="0" bIns="0" rtlCol="0" anchor="ctr"/>
          <a:lstStyle/>
          <a:p>
            <a:pPr marL="0" indent="0">
              <a:buNone/>
            </a:pPr>
            <a:r>
              <a:rPr lang="en-US" sz="2000" b="1" dirty="0">
                <a:solidFill>
                  <a:schemeClr val="bg1"/>
                </a:solidFill>
              </a:rPr>
              <a:t>No cheap proof of origin</a:t>
            </a:r>
            <a:endParaRPr lang="en-US" sz="2000" dirty="0"/>
          </a:p>
        </p:txBody>
      </p:sp>
      <p:sp>
        <p:nvSpPr>
          <p:cNvPr id="22" name="Problem text 4"/>
          <p:cNvSpPr txBox="1"/>
          <p:nvPr/>
        </p:nvSpPr>
        <p:spPr>
          <a:xfrm>
            <a:off x="6995160" y="3931920"/>
            <a:ext cx="4389120" cy="914400"/>
          </a:xfrm>
          <a:prstGeom prst="rect">
            <a:avLst/>
          </a:prstGeom>
          <a:noFill/>
          <a:ln/>
        </p:spPr>
        <p:txBody>
          <a:bodyPr wrap="square" lIns="0" tIns="0" rIns="0" bIns="0" rtlCol="0" anchor="t"/>
          <a:lstStyle/>
          <a:p>
            <a:pPr marL="0" indent="0">
              <a:buNone/>
            </a:pPr>
            <a:r>
              <a:rPr lang="en-US" sz="1400" dirty="0">
                <a:solidFill>
                  <a:schemeClr val="bg2"/>
                </a:solidFill>
              </a:rPr>
              <a:t>There is no lightweight way to show who created an image and that it is unchanged since creation.</a:t>
            </a:r>
            <a:endParaRPr lang="en-US" sz="1400" dirty="0"/>
          </a:p>
        </p:txBody>
      </p:sp>
      <p:sp>
        <p:nvSpPr>
          <p:cNvPr id="23" name="Need banner"/>
          <p:cNvSpPr/>
          <p:nvPr/>
        </p:nvSpPr>
        <p:spPr>
          <a:xfrm>
            <a:off x="548640" y="5212080"/>
            <a:ext cx="11018520" cy="960120"/>
          </a:xfrm>
          <a:prstGeom prst="roundRect">
            <a:avLst>
              <a:gd name="adj" fmla="val 11429"/>
            </a:avLst>
          </a:prstGeom>
          <a:solidFill>
            <a:schemeClr val="accent1"/>
          </a:solidFill>
          <a:ln w="12700">
            <a:solidFill>
              <a:schemeClr val="accent1"/>
            </a:solidFill>
            <a:prstDash val="solid"/>
          </a:ln>
        </p:spPr>
      </p:sp>
      <p:sp>
        <p:nvSpPr>
          <p:cNvPr id="24" name="Need statement"/>
          <p:cNvSpPr txBox="1"/>
          <p:nvPr/>
        </p:nvSpPr>
        <p:spPr>
          <a:xfrm>
            <a:off x="822960" y="5212080"/>
            <a:ext cx="10469880" cy="960120"/>
          </a:xfrm>
          <a:prstGeom prst="rect">
            <a:avLst/>
          </a:prstGeom>
          <a:noFill/>
          <a:ln/>
        </p:spPr>
        <p:txBody>
          <a:bodyPr wrap="square" lIns="0" tIns="0" rIns="0" bIns="0" rtlCol="0" anchor="ctr"/>
          <a:lstStyle/>
          <a:p>
            <a:pPr marL="0" indent="0">
              <a:buNone/>
            </a:pPr>
            <a:r>
              <a:rPr lang="en-US" sz="1800" b="1" dirty="0">
                <a:solidFill>
                  <a:schemeClr val="tx1"/>
                </a:solidFill>
              </a:rPr>
              <a:t>We need a mark that is invisible, cannot be forged, survives normal sharing, and shows where an image was edited.</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bg1"/>
                </a:solidFill>
              </a:rPr>
              <a:t>Aim, Objectives, Scope &amp; Novelty</a:t>
            </a:r>
            <a:endParaRPr lang="en-US" sz="3200" dirty="0"/>
          </a:p>
        </p:txBody>
      </p:sp>
      <p:sp>
        <p:nvSpPr>
          <p:cNvPr id="3" name="Aim card"/>
          <p:cNvSpPr/>
          <p:nvPr/>
        </p:nvSpPr>
        <p:spPr>
          <a:xfrm>
            <a:off x="548640" y="1371600"/>
            <a:ext cx="3383280" cy="4754880"/>
          </a:xfrm>
          <a:prstGeom prst="roundRect">
            <a:avLst>
              <a:gd name="adj" fmla="val 3243"/>
            </a:avLst>
          </a:prstGeom>
          <a:solidFill>
            <a:schemeClr val="tx2"/>
          </a:solidFill>
          <a:ln w="12700">
            <a:solidFill>
              <a:schemeClr val="tx2"/>
            </a:solidFill>
            <a:prstDash val="solid"/>
          </a:ln>
        </p:spPr>
      </p:sp>
      <p:sp>
        <p:nvSpPr>
          <p:cNvPr id="4" name="Aim heading"/>
          <p:cNvSpPr txBox="1"/>
          <p:nvPr/>
        </p:nvSpPr>
        <p:spPr>
          <a:xfrm>
            <a:off x="822960" y="1554480"/>
            <a:ext cx="2834640" cy="365760"/>
          </a:xfrm>
          <a:prstGeom prst="rect">
            <a:avLst/>
          </a:prstGeom>
          <a:noFill/>
          <a:ln/>
        </p:spPr>
        <p:txBody>
          <a:bodyPr wrap="square" lIns="0" tIns="0" rIns="0" bIns="0" rtlCol="0" anchor="ctr"/>
          <a:lstStyle/>
          <a:p>
            <a:pPr marL="0" indent="0">
              <a:buNone/>
            </a:pPr>
            <a:r>
              <a:rPr lang="en-US" sz="2000" b="1" dirty="0">
                <a:solidFill>
                  <a:schemeClr val="accent1"/>
                </a:solidFill>
              </a:rPr>
              <a:t>AIM</a:t>
            </a:r>
            <a:endParaRPr lang="en-US" sz="2000" dirty="0"/>
          </a:p>
        </p:txBody>
      </p:sp>
      <p:sp>
        <p:nvSpPr>
          <p:cNvPr id="5" name="Aim text"/>
          <p:cNvSpPr txBox="1"/>
          <p:nvPr/>
        </p:nvSpPr>
        <p:spPr>
          <a:xfrm>
            <a:off x="822960" y="2011680"/>
            <a:ext cx="2834640" cy="3840480"/>
          </a:xfrm>
          <a:prstGeom prst="rect">
            <a:avLst/>
          </a:prstGeom>
          <a:noFill/>
          <a:ln/>
        </p:spPr>
        <p:txBody>
          <a:bodyPr wrap="square" lIns="0" tIns="0" rIns="0" bIns="0" rtlCol="0" anchor="t"/>
          <a:lstStyle/>
          <a:p>
            <a:pPr marL="0" indent="0">
              <a:buNone/>
            </a:pPr>
            <a:r>
              <a:rPr lang="en-US" sz="1800" dirty="0">
                <a:solidFill>
                  <a:schemeClr val="bg1"/>
                </a:solidFill>
              </a:rPr>
              <a:t>Build an end-to-end system that signs AI-generated images with an invisible, key-protected watermark, then verifies authenticity and pinpoints tampered regions.</a:t>
            </a:r>
            <a:br>
              <a:rPr lang="en-US" sz="1800" dirty="0">
                <a:solidFill>
                  <a:schemeClr val="bg1"/>
                </a:solidFill>
              </a:rPr>
            </a:br>
            <a:br>
              <a:rPr lang="en-US" sz="1800" dirty="0">
                <a:solidFill>
                  <a:schemeClr val="bg1"/>
                </a:solidFill>
              </a:rPr>
            </a:br>
            <a:br>
              <a:rPr lang="en-US" sz="1800" dirty="0">
                <a:solidFill>
                  <a:schemeClr val="bg1"/>
                </a:solidFill>
              </a:rPr>
            </a:br>
            <a:endParaRPr lang="en-US" sz="1800" dirty="0"/>
          </a:p>
        </p:txBody>
      </p:sp>
      <p:sp>
        <p:nvSpPr>
          <p:cNvPr id="6" name="Objectives card"/>
          <p:cNvSpPr/>
          <p:nvPr/>
        </p:nvSpPr>
        <p:spPr>
          <a:xfrm>
            <a:off x="4057650" y="1371600"/>
            <a:ext cx="3749040" cy="4754880"/>
          </a:xfrm>
          <a:prstGeom prst="roundRect">
            <a:avLst>
              <a:gd name="adj" fmla="val 2927"/>
            </a:avLst>
          </a:prstGeom>
          <a:solidFill>
            <a:schemeClr val="tx2"/>
          </a:solidFill>
          <a:ln w="12700">
            <a:solidFill>
              <a:schemeClr val="tx2"/>
            </a:solidFill>
            <a:prstDash val="solid"/>
          </a:ln>
        </p:spPr>
      </p:sp>
      <p:sp>
        <p:nvSpPr>
          <p:cNvPr id="7" name="Objectives heading"/>
          <p:cNvSpPr txBox="1"/>
          <p:nvPr/>
        </p:nvSpPr>
        <p:spPr>
          <a:xfrm>
            <a:off x="4389120" y="1554480"/>
            <a:ext cx="3200400" cy="365760"/>
          </a:xfrm>
          <a:prstGeom prst="rect">
            <a:avLst/>
          </a:prstGeom>
          <a:noFill/>
          <a:ln/>
        </p:spPr>
        <p:txBody>
          <a:bodyPr wrap="square" lIns="0" tIns="0" rIns="0" bIns="0" rtlCol="0" anchor="ctr"/>
          <a:lstStyle/>
          <a:p>
            <a:pPr marL="0" indent="0">
              <a:buNone/>
            </a:pPr>
            <a:r>
              <a:rPr lang="en-US" sz="2000" b="1" dirty="0">
                <a:solidFill>
                  <a:schemeClr val="accent1"/>
                </a:solidFill>
              </a:rPr>
              <a:t>OBJECTIVES</a:t>
            </a:r>
            <a:endParaRPr lang="en-US" sz="2000" dirty="0"/>
          </a:p>
        </p:txBody>
      </p:sp>
      <p:sp>
        <p:nvSpPr>
          <p:cNvPr id="8" name="Objectives list"/>
          <p:cNvSpPr txBox="1"/>
          <p:nvPr/>
        </p:nvSpPr>
        <p:spPr>
          <a:xfrm>
            <a:off x="4389120" y="2011680"/>
            <a:ext cx="3246120" cy="38404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Invisible: PSNR above 40 dB</a:t>
            </a:r>
            <a:endParaRPr lang="en-US" sz="1800" dirty="0"/>
          </a:p>
          <a:p>
            <a:pPr marL="342900" indent="-342900">
              <a:spcAft>
                <a:spcPts val="1400"/>
              </a:spcAft>
              <a:buSzPct val="100000"/>
              <a:buChar char="•"/>
            </a:pPr>
            <a:r>
              <a:rPr lang="en-US" sz="1800" dirty="0">
                <a:solidFill>
                  <a:schemeClr val="bg1"/>
                </a:solidFill>
              </a:rPr>
              <a:t>Unforgeable: HMAC-signed payload</a:t>
            </a:r>
            <a:endParaRPr lang="en-US" sz="1800" dirty="0"/>
          </a:p>
          <a:p>
            <a:pPr marL="342900" indent="-342900">
              <a:spcAft>
                <a:spcPts val="1400"/>
              </a:spcAft>
              <a:buSzPct val="100000"/>
              <a:buChar char="•"/>
            </a:pPr>
            <a:r>
              <a:rPr lang="en-US" sz="1800" dirty="0">
                <a:solidFill>
                  <a:schemeClr val="bg1"/>
                </a:solidFill>
              </a:rPr>
              <a:t>Robust to JPEG, noise, rescale</a:t>
            </a:r>
            <a:endParaRPr lang="en-US" sz="1800" dirty="0"/>
          </a:p>
          <a:p>
            <a:pPr marL="342900" indent="-342900">
              <a:spcAft>
                <a:spcPts val="1400"/>
              </a:spcAft>
              <a:buSzPct val="100000"/>
              <a:buChar char="•"/>
            </a:pPr>
            <a:r>
              <a:rPr lang="en-US" sz="1800" dirty="0">
                <a:solidFill>
                  <a:schemeClr val="bg1"/>
                </a:solidFill>
              </a:rPr>
              <a:t>Locate edits with a tamper map</a:t>
            </a:r>
            <a:endParaRPr lang="en-US" sz="1800" dirty="0"/>
          </a:p>
          <a:p>
            <a:pPr marL="342900" indent="-342900">
              <a:spcAft>
                <a:spcPts val="1400"/>
              </a:spcAft>
              <a:buSzPct val="100000"/>
              <a:buChar char="•"/>
            </a:pPr>
            <a:r>
              <a:rPr lang="en-US" sz="1800" dirty="0">
                <a:solidFill>
                  <a:schemeClr val="bg1"/>
                </a:solidFill>
              </a:rPr>
              <a:t>Usable: CLI and web interface</a:t>
            </a:r>
            <a:endParaRPr lang="en-US" sz="1800" dirty="0"/>
          </a:p>
        </p:txBody>
      </p:sp>
      <p:sp>
        <p:nvSpPr>
          <p:cNvPr id="9" name="Scope card"/>
          <p:cNvSpPr/>
          <p:nvPr/>
        </p:nvSpPr>
        <p:spPr>
          <a:xfrm>
            <a:off x="8001000" y="1360403"/>
            <a:ext cx="3794760" cy="4754880"/>
          </a:xfrm>
          <a:prstGeom prst="roundRect">
            <a:avLst>
              <a:gd name="adj" fmla="val 3117"/>
            </a:avLst>
          </a:prstGeom>
          <a:solidFill>
            <a:schemeClr val="tx2"/>
          </a:solidFill>
          <a:ln w="12700">
            <a:solidFill>
              <a:schemeClr val="tx2"/>
            </a:solidFill>
            <a:prstDash val="solid"/>
          </a:ln>
        </p:spPr>
        <p:txBody>
          <a:bodyPr/>
          <a:lstStyle/>
          <a:p>
            <a:endParaRPr lang="en-IN" dirty="0"/>
          </a:p>
        </p:txBody>
      </p:sp>
      <p:sp>
        <p:nvSpPr>
          <p:cNvPr id="10" name="Scope heading"/>
          <p:cNvSpPr txBox="1"/>
          <p:nvPr/>
        </p:nvSpPr>
        <p:spPr>
          <a:xfrm>
            <a:off x="8321040" y="1554480"/>
            <a:ext cx="3017520" cy="365760"/>
          </a:xfrm>
          <a:prstGeom prst="rect">
            <a:avLst/>
          </a:prstGeom>
          <a:noFill/>
          <a:ln/>
        </p:spPr>
        <p:txBody>
          <a:bodyPr wrap="square" lIns="0" tIns="0" rIns="0" bIns="0" rtlCol="0" anchor="ctr"/>
          <a:lstStyle/>
          <a:p>
            <a:pPr marL="0" indent="0">
              <a:buNone/>
            </a:pPr>
            <a:r>
              <a:rPr lang="en-US" sz="1800" b="1" dirty="0">
                <a:solidFill>
                  <a:schemeClr val="accent1"/>
                </a:solidFill>
              </a:rPr>
              <a:t>SCOPE &amp; NOVELTY </a:t>
            </a:r>
            <a:endParaRPr lang="en-US" sz="1800" dirty="0"/>
          </a:p>
        </p:txBody>
      </p:sp>
      <p:sp>
        <p:nvSpPr>
          <p:cNvPr id="11" name="Scope list"/>
          <p:cNvSpPr txBox="1"/>
          <p:nvPr/>
        </p:nvSpPr>
        <p:spPr>
          <a:xfrm>
            <a:off x="8321040" y="2011680"/>
            <a:ext cx="3063240" cy="3931920"/>
          </a:xfrm>
          <a:prstGeom prst="rect">
            <a:avLst/>
          </a:prstGeom>
          <a:noFill/>
          <a:ln/>
        </p:spPr>
        <p:txBody>
          <a:bodyPr wrap="square" lIns="0" tIns="0" rIns="0" bIns="0" rtlCol="0" anchor="t"/>
          <a:lstStyle/>
          <a:p>
            <a:pPr>
              <a:spcAft>
                <a:spcPts val="900"/>
              </a:spcAft>
            </a:pPr>
            <a:r>
              <a:rPr lang="en-IN" dirty="0">
                <a:solidFill>
                  <a:schemeClr val="bg1"/>
                </a:solidFill>
              </a:rPr>
              <a:t>- Most academic watermarking embeds a plain logo or random bits, which anyone can copy or replace. Here the payload is </a:t>
            </a:r>
            <a:r>
              <a:rPr lang="en-IN" b="1" dirty="0">
                <a:solidFill>
                  <a:schemeClr val="bg1"/>
                </a:solidFill>
              </a:rPr>
              <a:t>Creator ID + timestamp + an HMAC-SHA256 tag</a:t>
            </a:r>
            <a:r>
              <a:rPr lang="en-IN" dirty="0">
                <a:solidFill>
                  <a:schemeClr val="bg1"/>
                </a:solidFill>
              </a:rPr>
              <a:t>, so the mark proves origin and cannot be forged without the key.</a:t>
            </a:r>
          </a:p>
          <a:p>
            <a:pPr>
              <a:spcAft>
                <a:spcPts val="900"/>
              </a:spcAft>
            </a:pPr>
            <a:endParaRPr lang="en-IN" sz="1600" dirty="0">
              <a:solidFill>
                <a:schemeClr val="bg1"/>
              </a:solidFill>
            </a:endParaRPr>
          </a:p>
          <a:p>
            <a:pPr>
              <a:spcAft>
                <a:spcPts val="900"/>
              </a:spcAft>
            </a:pPr>
            <a:r>
              <a:rPr lang="en-IN" b="1" dirty="0">
                <a:solidFill>
                  <a:schemeClr val="bg1"/>
                </a:solidFill>
              </a:rPr>
              <a:t>- Tamper localization from the watermark itself</a:t>
            </a:r>
            <a:r>
              <a:rPr lang="en-IN" dirty="0">
                <a:solidFill>
                  <a:schemeClr val="bg1"/>
                </a:solidFill>
              </a:rPr>
              <a:t>: The same payload is repeated over the whole image</a:t>
            </a:r>
            <a:endParaRPr lang="en-US" sz="1600" dirty="0">
              <a:solidFill>
                <a:schemeClr val="bg1"/>
              </a:solidFill>
            </a:endParaRPr>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bg1"/>
                </a:solidFill>
              </a:rPr>
              <a:t>The Full Process in Simple Words</a:t>
            </a:r>
            <a:endParaRPr lang="en-US" sz="3200" dirty="0"/>
          </a:p>
        </p:txBody>
      </p:sp>
      <p:sp>
        <p:nvSpPr>
          <p:cNvPr id="3" name="Step card 1"/>
          <p:cNvSpPr/>
          <p:nvPr/>
        </p:nvSpPr>
        <p:spPr>
          <a:xfrm>
            <a:off x="548640" y="1371600"/>
            <a:ext cx="2606040" cy="2697480"/>
          </a:xfrm>
          <a:prstGeom prst="roundRect">
            <a:avLst>
              <a:gd name="adj" fmla="val 4211"/>
            </a:avLst>
          </a:prstGeom>
          <a:solidFill>
            <a:schemeClr val="tx2"/>
          </a:solidFill>
          <a:ln w="12700">
            <a:solidFill>
              <a:schemeClr val="tx2"/>
            </a:solidFill>
            <a:prstDash val="solid"/>
          </a:ln>
        </p:spPr>
      </p:sp>
      <p:sp>
        <p:nvSpPr>
          <p:cNvPr id="4" name="Number badge 1"/>
          <p:cNvSpPr/>
          <p:nvPr/>
        </p:nvSpPr>
        <p:spPr>
          <a:xfrm>
            <a:off x="777240" y="1554480"/>
            <a:ext cx="457200" cy="457200"/>
          </a:xfrm>
          <a:prstGeom prst="ellipse">
            <a:avLst/>
          </a:prstGeom>
          <a:solidFill>
            <a:schemeClr val="accent1"/>
          </a:solidFill>
          <a:ln w="12700">
            <a:solidFill>
              <a:schemeClr val="accent1"/>
            </a:solidFill>
            <a:prstDash val="solid"/>
          </a:ln>
        </p:spPr>
      </p:sp>
      <p:sp>
        <p:nvSpPr>
          <p:cNvPr id="5" name="Number 1"/>
          <p:cNvSpPr txBox="1"/>
          <p:nvPr/>
        </p:nvSpPr>
        <p:spPr>
          <a:xfrm>
            <a:off x="777240" y="1554480"/>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6" name="Step heading 1"/>
          <p:cNvSpPr txBox="1"/>
          <p:nvPr/>
        </p:nvSpPr>
        <p:spPr>
          <a:xfrm>
            <a:off x="777240" y="2103120"/>
            <a:ext cx="2194560" cy="411480"/>
          </a:xfrm>
          <a:prstGeom prst="rect">
            <a:avLst/>
          </a:prstGeom>
          <a:noFill/>
          <a:ln/>
        </p:spPr>
        <p:txBody>
          <a:bodyPr wrap="square" lIns="0" tIns="0" rIns="0" bIns="0" rtlCol="0" anchor="ctr"/>
          <a:lstStyle/>
          <a:p>
            <a:pPr marL="0" indent="0">
              <a:buNone/>
            </a:pPr>
            <a:r>
              <a:rPr lang="en-US" sz="2000" b="1" dirty="0">
                <a:solidFill>
                  <a:schemeClr val="bg1"/>
                </a:solidFill>
              </a:rPr>
              <a:t>Create</a:t>
            </a:r>
            <a:endParaRPr lang="en-US" sz="2000" dirty="0"/>
          </a:p>
        </p:txBody>
      </p:sp>
      <p:sp>
        <p:nvSpPr>
          <p:cNvPr id="7" name="Step text 1"/>
          <p:cNvSpPr txBox="1"/>
          <p:nvPr/>
        </p:nvSpPr>
        <p:spPr>
          <a:xfrm>
            <a:off x="777240" y="2560320"/>
            <a:ext cx="2194560" cy="1371600"/>
          </a:xfrm>
          <a:prstGeom prst="rect">
            <a:avLst/>
          </a:prstGeom>
          <a:noFill/>
          <a:ln/>
        </p:spPr>
        <p:txBody>
          <a:bodyPr wrap="square" lIns="0" tIns="0" rIns="0" bIns="0" rtlCol="0" anchor="t"/>
          <a:lstStyle/>
          <a:p>
            <a:pPr marL="0" indent="0">
              <a:buNone/>
            </a:pPr>
            <a:r>
              <a:rPr lang="en-US" sz="1400" dirty="0">
                <a:solidFill>
                  <a:schemeClr val="bg2"/>
                </a:solidFill>
              </a:rPr>
              <a:t>An AI image is generated and uploaded to AuthMark.</a:t>
            </a:r>
            <a:endParaRPr lang="en-US" sz="1400" dirty="0"/>
          </a:p>
        </p:txBody>
      </p:sp>
      <p:sp>
        <p:nvSpPr>
          <p:cNvPr id="8" name="Step card 2"/>
          <p:cNvSpPr/>
          <p:nvPr/>
        </p:nvSpPr>
        <p:spPr>
          <a:xfrm>
            <a:off x="3364992" y="1371600"/>
            <a:ext cx="2606040" cy="2697480"/>
          </a:xfrm>
          <a:prstGeom prst="roundRect">
            <a:avLst>
              <a:gd name="adj" fmla="val 4211"/>
            </a:avLst>
          </a:prstGeom>
          <a:solidFill>
            <a:schemeClr val="tx2"/>
          </a:solidFill>
          <a:ln w="12700">
            <a:solidFill>
              <a:schemeClr val="tx2"/>
            </a:solidFill>
            <a:prstDash val="solid"/>
          </a:ln>
        </p:spPr>
      </p:sp>
      <p:sp>
        <p:nvSpPr>
          <p:cNvPr id="9" name="Number badge 2"/>
          <p:cNvSpPr/>
          <p:nvPr/>
        </p:nvSpPr>
        <p:spPr>
          <a:xfrm>
            <a:off x="3593592" y="1554480"/>
            <a:ext cx="457200" cy="457200"/>
          </a:xfrm>
          <a:prstGeom prst="ellipse">
            <a:avLst/>
          </a:prstGeom>
          <a:solidFill>
            <a:schemeClr val="accent1"/>
          </a:solidFill>
          <a:ln w="12700">
            <a:solidFill>
              <a:schemeClr val="accent1"/>
            </a:solidFill>
            <a:prstDash val="solid"/>
          </a:ln>
        </p:spPr>
      </p:sp>
      <p:sp>
        <p:nvSpPr>
          <p:cNvPr id="10" name="Number 2"/>
          <p:cNvSpPr txBox="1"/>
          <p:nvPr/>
        </p:nvSpPr>
        <p:spPr>
          <a:xfrm>
            <a:off x="3593592" y="1554480"/>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1" name="Step heading 2"/>
          <p:cNvSpPr txBox="1"/>
          <p:nvPr/>
        </p:nvSpPr>
        <p:spPr>
          <a:xfrm>
            <a:off x="3593592" y="2103120"/>
            <a:ext cx="2194560" cy="411480"/>
          </a:xfrm>
          <a:prstGeom prst="rect">
            <a:avLst/>
          </a:prstGeom>
          <a:noFill/>
          <a:ln/>
        </p:spPr>
        <p:txBody>
          <a:bodyPr wrap="square" lIns="0" tIns="0" rIns="0" bIns="0" rtlCol="0" anchor="ctr"/>
          <a:lstStyle/>
          <a:p>
            <a:pPr marL="0" indent="0">
              <a:buNone/>
            </a:pPr>
            <a:r>
              <a:rPr lang="en-US" sz="2000" b="1" dirty="0">
                <a:solidFill>
                  <a:schemeClr val="bg1"/>
                </a:solidFill>
              </a:rPr>
              <a:t>Sign and hide</a:t>
            </a:r>
            <a:endParaRPr lang="en-US" sz="2000" dirty="0"/>
          </a:p>
        </p:txBody>
      </p:sp>
      <p:sp>
        <p:nvSpPr>
          <p:cNvPr id="12" name="Step text 2"/>
          <p:cNvSpPr txBox="1"/>
          <p:nvPr/>
        </p:nvSpPr>
        <p:spPr>
          <a:xfrm>
            <a:off x="3593592" y="2560320"/>
            <a:ext cx="2194560" cy="1371600"/>
          </a:xfrm>
          <a:prstGeom prst="rect">
            <a:avLst/>
          </a:prstGeom>
          <a:noFill/>
          <a:ln/>
        </p:spPr>
        <p:txBody>
          <a:bodyPr wrap="square" lIns="0" tIns="0" rIns="0" bIns="0" rtlCol="0" anchor="t"/>
          <a:lstStyle/>
          <a:p>
            <a:pPr marL="0" indent="0">
              <a:buNone/>
            </a:pPr>
            <a:r>
              <a:rPr lang="en-US" sz="1400" dirty="0">
                <a:solidFill>
                  <a:schemeClr val="bg2"/>
                </a:solidFill>
              </a:rPr>
              <a:t>A small secret code (who, when, plus a lock made with your key) is hidden across the whole image. It looks unchanged.</a:t>
            </a:r>
            <a:endParaRPr lang="en-US" sz="1400" dirty="0"/>
          </a:p>
        </p:txBody>
      </p:sp>
      <p:sp>
        <p:nvSpPr>
          <p:cNvPr id="13" name="Step card 3"/>
          <p:cNvSpPr/>
          <p:nvPr/>
        </p:nvSpPr>
        <p:spPr>
          <a:xfrm>
            <a:off x="6181344" y="1371600"/>
            <a:ext cx="2606040" cy="2697480"/>
          </a:xfrm>
          <a:prstGeom prst="roundRect">
            <a:avLst>
              <a:gd name="adj" fmla="val 4211"/>
            </a:avLst>
          </a:prstGeom>
          <a:solidFill>
            <a:schemeClr val="tx2"/>
          </a:solidFill>
          <a:ln w="12700">
            <a:solidFill>
              <a:schemeClr val="tx2"/>
            </a:solidFill>
            <a:prstDash val="solid"/>
          </a:ln>
        </p:spPr>
      </p:sp>
      <p:sp>
        <p:nvSpPr>
          <p:cNvPr id="14" name="Number badge 3"/>
          <p:cNvSpPr/>
          <p:nvPr/>
        </p:nvSpPr>
        <p:spPr>
          <a:xfrm>
            <a:off x="6409944" y="1554480"/>
            <a:ext cx="457200" cy="457200"/>
          </a:xfrm>
          <a:prstGeom prst="ellipse">
            <a:avLst/>
          </a:prstGeom>
          <a:solidFill>
            <a:schemeClr val="accent1"/>
          </a:solidFill>
          <a:ln w="12700">
            <a:solidFill>
              <a:schemeClr val="accent1"/>
            </a:solidFill>
            <a:prstDash val="solid"/>
          </a:ln>
        </p:spPr>
      </p:sp>
      <p:sp>
        <p:nvSpPr>
          <p:cNvPr id="15" name="Number 3"/>
          <p:cNvSpPr txBox="1"/>
          <p:nvPr/>
        </p:nvSpPr>
        <p:spPr>
          <a:xfrm>
            <a:off x="6409944" y="1554480"/>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6" name="Step heading 3"/>
          <p:cNvSpPr txBox="1"/>
          <p:nvPr/>
        </p:nvSpPr>
        <p:spPr>
          <a:xfrm>
            <a:off x="6409944" y="2103120"/>
            <a:ext cx="2194560" cy="411480"/>
          </a:xfrm>
          <a:prstGeom prst="rect">
            <a:avLst/>
          </a:prstGeom>
          <a:noFill/>
          <a:ln/>
        </p:spPr>
        <p:txBody>
          <a:bodyPr wrap="square" lIns="0" tIns="0" rIns="0" bIns="0" rtlCol="0" anchor="ctr"/>
          <a:lstStyle/>
          <a:p>
            <a:pPr marL="0" indent="0">
              <a:buNone/>
            </a:pPr>
            <a:r>
              <a:rPr lang="en-US" sz="2000" b="1" dirty="0">
                <a:solidFill>
                  <a:schemeClr val="bg1"/>
                </a:solidFill>
              </a:rPr>
              <a:t>Share</a:t>
            </a:r>
            <a:endParaRPr lang="en-US" sz="2000" dirty="0"/>
          </a:p>
        </p:txBody>
      </p:sp>
      <p:sp>
        <p:nvSpPr>
          <p:cNvPr id="17" name="Step text 3"/>
          <p:cNvSpPr txBox="1"/>
          <p:nvPr/>
        </p:nvSpPr>
        <p:spPr>
          <a:xfrm>
            <a:off x="6409944" y="2560320"/>
            <a:ext cx="2194560" cy="1371600"/>
          </a:xfrm>
          <a:prstGeom prst="rect">
            <a:avLst/>
          </a:prstGeom>
          <a:noFill/>
          <a:ln/>
        </p:spPr>
        <p:txBody>
          <a:bodyPr wrap="square" lIns="0" tIns="0" rIns="0" bIns="0" rtlCol="0" anchor="t"/>
          <a:lstStyle/>
          <a:p>
            <a:pPr marL="0" indent="0">
              <a:buNone/>
            </a:pPr>
            <a:r>
              <a:rPr lang="en-US" sz="1400" dirty="0">
                <a:solidFill>
                  <a:schemeClr val="bg2"/>
                </a:solidFill>
              </a:rPr>
              <a:t>The image is posted, compressed or resized. Enough copies of the code survive.</a:t>
            </a:r>
            <a:endParaRPr lang="en-US" sz="1400" dirty="0"/>
          </a:p>
        </p:txBody>
      </p:sp>
      <p:sp>
        <p:nvSpPr>
          <p:cNvPr id="18" name="Step card 4"/>
          <p:cNvSpPr/>
          <p:nvPr/>
        </p:nvSpPr>
        <p:spPr>
          <a:xfrm>
            <a:off x="8997696" y="1371600"/>
            <a:ext cx="2606040" cy="2697480"/>
          </a:xfrm>
          <a:prstGeom prst="roundRect">
            <a:avLst>
              <a:gd name="adj" fmla="val 4211"/>
            </a:avLst>
          </a:prstGeom>
          <a:solidFill>
            <a:schemeClr val="tx2"/>
          </a:solidFill>
          <a:ln w="12700">
            <a:solidFill>
              <a:schemeClr val="tx2"/>
            </a:solidFill>
            <a:prstDash val="solid"/>
          </a:ln>
        </p:spPr>
      </p:sp>
      <p:sp>
        <p:nvSpPr>
          <p:cNvPr id="19" name="Number badge 4"/>
          <p:cNvSpPr/>
          <p:nvPr/>
        </p:nvSpPr>
        <p:spPr>
          <a:xfrm>
            <a:off x="9226296" y="1554480"/>
            <a:ext cx="457200" cy="457200"/>
          </a:xfrm>
          <a:prstGeom prst="ellipse">
            <a:avLst/>
          </a:prstGeom>
          <a:solidFill>
            <a:schemeClr val="accent1"/>
          </a:solidFill>
          <a:ln w="12700">
            <a:solidFill>
              <a:schemeClr val="accent1"/>
            </a:solidFill>
            <a:prstDash val="solid"/>
          </a:ln>
        </p:spPr>
      </p:sp>
      <p:sp>
        <p:nvSpPr>
          <p:cNvPr id="20" name="Number 4"/>
          <p:cNvSpPr txBox="1"/>
          <p:nvPr/>
        </p:nvSpPr>
        <p:spPr>
          <a:xfrm>
            <a:off x="9226296" y="1554480"/>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21" name="Step heading 4"/>
          <p:cNvSpPr txBox="1"/>
          <p:nvPr/>
        </p:nvSpPr>
        <p:spPr>
          <a:xfrm>
            <a:off x="9226296" y="2103120"/>
            <a:ext cx="2194560" cy="411480"/>
          </a:xfrm>
          <a:prstGeom prst="rect">
            <a:avLst/>
          </a:prstGeom>
          <a:noFill/>
          <a:ln/>
        </p:spPr>
        <p:txBody>
          <a:bodyPr wrap="square" lIns="0" tIns="0" rIns="0" bIns="0" rtlCol="0" anchor="ctr"/>
          <a:lstStyle/>
          <a:p>
            <a:pPr marL="0" indent="0">
              <a:buNone/>
            </a:pPr>
            <a:r>
              <a:rPr lang="en-US" sz="2000" b="1" dirty="0">
                <a:solidFill>
                  <a:schemeClr val="bg1"/>
                </a:solidFill>
              </a:rPr>
              <a:t>Verify</a:t>
            </a:r>
            <a:endParaRPr lang="en-US" sz="2000" dirty="0"/>
          </a:p>
        </p:txBody>
      </p:sp>
      <p:sp>
        <p:nvSpPr>
          <p:cNvPr id="22" name="Step text 4"/>
          <p:cNvSpPr txBox="1"/>
          <p:nvPr/>
        </p:nvSpPr>
        <p:spPr>
          <a:xfrm>
            <a:off x="9226296" y="2560320"/>
            <a:ext cx="2194560" cy="1371600"/>
          </a:xfrm>
          <a:prstGeom prst="rect">
            <a:avLst/>
          </a:prstGeom>
          <a:noFill/>
          <a:ln/>
        </p:spPr>
        <p:txBody>
          <a:bodyPr wrap="square" lIns="0" tIns="0" rIns="0" bIns="0" rtlCol="0" anchor="t"/>
          <a:lstStyle/>
          <a:p>
            <a:pPr marL="0" indent="0">
              <a:buNone/>
            </a:pPr>
            <a:r>
              <a:rPr lang="en-US" sz="1400" dirty="0">
                <a:solidFill>
                  <a:schemeClr val="bg2"/>
                </a:solidFill>
              </a:rPr>
              <a:t>Anyone with the key re-reads the code, checks the lock, and compares every region.</a:t>
            </a:r>
            <a:endParaRPr lang="en-US" sz="1400" dirty="0"/>
          </a:p>
        </p:txBody>
      </p:sp>
      <p:sp>
        <p:nvSpPr>
          <p:cNvPr id="23" name="Verdict heading"/>
          <p:cNvSpPr txBox="1"/>
          <p:nvPr/>
        </p:nvSpPr>
        <p:spPr>
          <a:xfrm>
            <a:off x="548640" y="4343400"/>
            <a:ext cx="4572000" cy="365760"/>
          </a:xfrm>
          <a:prstGeom prst="rect">
            <a:avLst/>
          </a:prstGeom>
          <a:noFill/>
          <a:ln/>
        </p:spPr>
        <p:txBody>
          <a:bodyPr wrap="square" lIns="0" tIns="0" rIns="0" bIns="0" rtlCol="0" anchor="ctr"/>
          <a:lstStyle/>
          <a:p>
            <a:pPr marL="0" indent="0">
              <a:buNone/>
            </a:pPr>
            <a:r>
              <a:rPr lang="en-US" sz="1800" b="1" dirty="0">
                <a:solidFill>
                  <a:schemeClr val="accent1"/>
                </a:solidFill>
              </a:rPr>
              <a:t>Three possible answers</a:t>
            </a:r>
            <a:endParaRPr lang="en-US" sz="1800" dirty="0"/>
          </a:p>
        </p:txBody>
      </p:sp>
      <p:pic>
        <p:nvPicPr>
          <p:cNvPr id="24" name="Verdict legend" descr="Verdict legend: authentic, tampered, not verified"/>
          <p:cNvPicPr>
            <a:picLocks noChangeAspect="1"/>
          </p:cNvPicPr>
          <p:nvPr/>
        </p:nvPicPr>
        <p:blipFill>
          <a:blip r:embed="rId3"/>
          <a:stretch>
            <a:fillRect/>
          </a:stretch>
        </p:blipFill>
        <p:spPr>
          <a:xfrm>
            <a:off x="548640" y="4754880"/>
            <a:ext cx="3840480" cy="1620299"/>
          </a:xfrm>
          <a:prstGeom prst="rect">
            <a:avLst/>
          </a:prstGeom>
        </p:spPr>
      </p:pic>
      <p:sp>
        <p:nvSpPr>
          <p:cNvPr id="25" name="Analogy card"/>
          <p:cNvSpPr/>
          <p:nvPr/>
        </p:nvSpPr>
        <p:spPr>
          <a:xfrm>
            <a:off x="4846320" y="4343400"/>
            <a:ext cx="6720840" cy="1783080"/>
          </a:xfrm>
          <a:prstGeom prst="roundRect">
            <a:avLst>
              <a:gd name="adj" fmla="val 6154"/>
            </a:avLst>
          </a:prstGeom>
          <a:solidFill>
            <a:schemeClr val="tx2"/>
          </a:solidFill>
          <a:ln w="12700">
            <a:solidFill>
              <a:schemeClr val="tx2"/>
            </a:solidFill>
            <a:prstDash val="solid"/>
          </a:ln>
        </p:spPr>
      </p:sp>
      <p:sp>
        <p:nvSpPr>
          <p:cNvPr id="26" name="Analogy text"/>
          <p:cNvSpPr txBox="1"/>
          <p:nvPr/>
        </p:nvSpPr>
        <p:spPr>
          <a:xfrm>
            <a:off x="5120640" y="4434840"/>
            <a:ext cx="6217920" cy="1600200"/>
          </a:xfrm>
          <a:prstGeom prst="rect">
            <a:avLst/>
          </a:prstGeom>
          <a:noFill/>
          <a:ln/>
        </p:spPr>
        <p:txBody>
          <a:bodyPr wrap="square" lIns="0" tIns="0" rIns="0" bIns="0" rtlCol="0" anchor="ctr"/>
          <a:lstStyle/>
          <a:p>
            <a:pPr marL="0" indent="0">
              <a:spcAft>
                <a:spcPts val="600"/>
              </a:spcAft>
              <a:buNone/>
            </a:pPr>
            <a:r>
              <a:rPr lang="en-US" sz="1600" b="1" dirty="0">
                <a:solidFill>
                  <a:schemeClr val="bg1"/>
                </a:solidFill>
              </a:rPr>
              <a:t>Think of a letter signed in invisible ink with your personal pen.</a:t>
            </a:r>
            <a:endParaRPr lang="en-US" sz="1600" dirty="0"/>
          </a:p>
          <a:p>
            <a:pPr marL="0" indent="0">
              <a:spcAft>
                <a:spcPts val="600"/>
              </a:spcAft>
              <a:buNone/>
            </a:pPr>
            <a:r>
              <a:rPr lang="en-US" sz="1600" dirty="0">
                <a:solidFill>
                  <a:schemeClr val="bg2"/>
                </a:solidFill>
              </a:rPr>
              <a:t>Copies can circulate, but nobody can fake your signature without the pen. Scribble over one paragraph and the signature breaks exactly there.</a:t>
            </a:r>
            <a:endParaRPr lang="en-US" sz="1600" dirty="0"/>
          </a:p>
        </p:txBody>
      </p:sp>
      <p:sp>
        <p:nvSpPr>
          <p:cNvPr id="27"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bg1"/>
                </a:solidFill>
              </a:rPr>
              <a:t>Technology Stack</a:t>
            </a:r>
            <a:endParaRPr lang="en-US" sz="3200" dirty="0"/>
          </a:p>
        </p:txBody>
      </p:sp>
      <p:sp>
        <p:nvSpPr>
          <p:cNvPr id="3" name="Libraries and tools card"/>
          <p:cNvSpPr/>
          <p:nvPr/>
        </p:nvSpPr>
        <p:spPr>
          <a:xfrm>
            <a:off x="548640" y="1371600"/>
            <a:ext cx="5440680" cy="4754880"/>
          </a:xfrm>
          <a:prstGeom prst="roundRect">
            <a:avLst>
              <a:gd name="adj" fmla="val 2308"/>
            </a:avLst>
          </a:prstGeom>
          <a:solidFill>
            <a:schemeClr val="tx2"/>
          </a:solidFill>
          <a:ln w="12700">
            <a:solidFill>
              <a:schemeClr val="tx2"/>
            </a:solidFill>
            <a:prstDash val="solid"/>
          </a:ln>
        </p:spPr>
      </p:sp>
      <p:sp>
        <p:nvSpPr>
          <p:cNvPr id="4" name="Libraries and tools heading"/>
          <p:cNvSpPr txBox="1"/>
          <p:nvPr/>
        </p:nvSpPr>
        <p:spPr>
          <a:xfrm>
            <a:off x="822960" y="1554480"/>
            <a:ext cx="4846320" cy="411480"/>
          </a:xfrm>
          <a:prstGeom prst="rect">
            <a:avLst/>
          </a:prstGeom>
          <a:noFill/>
          <a:ln/>
        </p:spPr>
        <p:txBody>
          <a:bodyPr wrap="square" lIns="0" tIns="0" rIns="0" bIns="0" rtlCol="0" anchor="ctr"/>
          <a:lstStyle/>
          <a:p>
            <a:pPr marL="0" indent="0">
              <a:buNone/>
            </a:pPr>
            <a:r>
              <a:rPr lang="en-US" sz="1800" b="1" dirty="0">
                <a:solidFill>
                  <a:schemeClr val="accent1"/>
                </a:solidFill>
              </a:rPr>
              <a:t>LIBRARIES AND TOOLS</a:t>
            </a:r>
            <a:endParaRPr lang="en-US" sz="1800" dirty="0"/>
          </a:p>
        </p:txBody>
      </p:sp>
      <p:sp>
        <p:nvSpPr>
          <p:cNvPr id="5" name="Dot"/>
          <p:cNvSpPr/>
          <p:nvPr/>
        </p:nvSpPr>
        <p:spPr>
          <a:xfrm>
            <a:off x="822960" y="2258568"/>
            <a:ext cx="201168" cy="201168"/>
          </a:xfrm>
          <a:prstGeom prst="ellipse">
            <a:avLst/>
          </a:prstGeom>
          <a:solidFill>
            <a:schemeClr val="accent1"/>
          </a:solidFill>
          <a:ln w="12700">
            <a:solidFill>
              <a:schemeClr val="accent1"/>
            </a:solidFill>
            <a:prstDash val="solid"/>
          </a:ln>
        </p:spPr>
      </p:sp>
      <p:sp>
        <p:nvSpPr>
          <p:cNvPr id="6" name="Tech Python 3.13"/>
          <p:cNvSpPr txBox="1"/>
          <p:nvPr/>
        </p:nvSpPr>
        <p:spPr>
          <a:xfrm>
            <a:off x="1188720" y="2103120"/>
            <a:ext cx="4572000" cy="685800"/>
          </a:xfrm>
          <a:prstGeom prst="rect">
            <a:avLst/>
          </a:prstGeom>
          <a:noFill/>
          <a:ln/>
        </p:spPr>
        <p:txBody>
          <a:bodyPr wrap="square" lIns="0" tIns="0" rIns="0" bIns="0" rtlCol="0" anchor="t"/>
          <a:lstStyle/>
          <a:p>
            <a:pPr marL="0" indent="0">
              <a:buNone/>
            </a:pPr>
            <a:r>
              <a:rPr lang="en-US" sz="1800" b="1" dirty="0">
                <a:solidFill>
                  <a:schemeClr val="bg1"/>
                </a:solidFill>
              </a:rPr>
              <a:t>Python 3.13</a:t>
            </a:r>
            <a:endParaRPr lang="en-US" sz="1800" dirty="0"/>
          </a:p>
          <a:p>
            <a:pPr marL="0" indent="0">
              <a:buNone/>
            </a:pPr>
            <a:r>
              <a:rPr lang="en-US" sz="1400" dirty="0">
                <a:solidFill>
                  <a:schemeClr val="bg2"/>
                </a:solidFill>
              </a:rPr>
              <a:t>Implementation language</a:t>
            </a:r>
            <a:endParaRPr lang="en-US" sz="1800" dirty="0"/>
          </a:p>
        </p:txBody>
      </p:sp>
      <p:sp>
        <p:nvSpPr>
          <p:cNvPr id="7" name="Dot"/>
          <p:cNvSpPr/>
          <p:nvPr/>
        </p:nvSpPr>
        <p:spPr>
          <a:xfrm>
            <a:off x="822960" y="3035808"/>
            <a:ext cx="201168" cy="201168"/>
          </a:xfrm>
          <a:prstGeom prst="ellipse">
            <a:avLst/>
          </a:prstGeom>
          <a:solidFill>
            <a:schemeClr val="accent1"/>
          </a:solidFill>
          <a:ln w="12700">
            <a:solidFill>
              <a:schemeClr val="accent1"/>
            </a:solidFill>
            <a:prstDash val="solid"/>
          </a:ln>
        </p:spPr>
      </p:sp>
      <p:sp>
        <p:nvSpPr>
          <p:cNvPr id="8" name="Tech NumPy and SciPy"/>
          <p:cNvSpPr txBox="1"/>
          <p:nvPr/>
        </p:nvSpPr>
        <p:spPr>
          <a:xfrm>
            <a:off x="1188720" y="2880360"/>
            <a:ext cx="4572000" cy="685800"/>
          </a:xfrm>
          <a:prstGeom prst="rect">
            <a:avLst/>
          </a:prstGeom>
          <a:noFill/>
          <a:ln/>
        </p:spPr>
        <p:txBody>
          <a:bodyPr wrap="square" lIns="0" tIns="0" rIns="0" bIns="0" rtlCol="0" anchor="t"/>
          <a:lstStyle/>
          <a:p>
            <a:pPr marL="0" indent="0">
              <a:buNone/>
            </a:pPr>
            <a:r>
              <a:rPr lang="en-US" sz="1800" b="1" dirty="0">
                <a:solidFill>
                  <a:schemeClr val="bg1"/>
                </a:solidFill>
              </a:rPr>
              <a:t>NumPy and SciPy</a:t>
            </a:r>
            <a:endParaRPr lang="en-US" sz="1800" dirty="0"/>
          </a:p>
          <a:p>
            <a:pPr marL="0" indent="0">
              <a:buNone/>
            </a:pPr>
            <a:r>
              <a:rPr lang="en-US" sz="1400" dirty="0">
                <a:solidFill>
                  <a:schemeClr val="bg2"/>
                </a:solidFill>
              </a:rPr>
              <a:t>Array maths, DCT, filters</a:t>
            </a:r>
            <a:endParaRPr lang="en-US" sz="1800" dirty="0"/>
          </a:p>
        </p:txBody>
      </p:sp>
      <p:sp>
        <p:nvSpPr>
          <p:cNvPr id="9" name="Dot"/>
          <p:cNvSpPr/>
          <p:nvPr/>
        </p:nvSpPr>
        <p:spPr>
          <a:xfrm>
            <a:off x="822960" y="3813048"/>
            <a:ext cx="201168" cy="201168"/>
          </a:xfrm>
          <a:prstGeom prst="ellipse">
            <a:avLst/>
          </a:prstGeom>
          <a:solidFill>
            <a:schemeClr val="accent1"/>
          </a:solidFill>
          <a:ln w="12700">
            <a:solidFill>
              <a:schemeClr val="accent1"/>
            </a:solidFill>
            <a:prstDash val="solid"/>
          </a:ln>
        </p:spPr>
      </p:sp>
      <p:sp>
        <p:nvSpPr>
          <p:cNvPr id="10" name="Tech Pillow"/>
          <p:cNvSpPr txBox="1"/>
          <p:nvPr/>
        </p:nvSpPr>
        <p:spPr>
          <a:xfrm>
            <a:off x="1188720" y="3657600"/>
            <a:ext cx="4572000" cy="685800"/>
          </a:xfrm>
          <a:prstGeom prst="rect">
            <a:avLst/>
          </a:prstGeom>
          <a:noFill/>
          <a:ln/>
        </p:spPr>
        <p:txBody>
          <a:bodyPr wrap="square" lIns="0" tIns="0" rIns="0" bIns="0" rtlCol="0" anchor="t"/>
          <a:lstStyle/>
          <a:p>
            <a:pPr marL="0" indent="0">
              <a:buNone/>
            </a:pPr>
            <a:r>
              <a:rPr lang="en-US" sz="1800" b="1" dirty="0">
                <a:solidFill>
                  <a:schemeClr val="bg1"/>
                </a:solidFill>
              </a:rPr>
              <a:t>Pillow</a:t>
            </a:r>
            <a:endParaRPr lang="en-US" sz="1800" dirty="0"/>
          </a:p>
          <a:p>
            <a:pPr marL="0" indent="0">
              <a:buNone/>
            </a:pPr>
            <a:r>
              <a:rPr lang="en-US" sz="1400" dirty="0">
                <a:solidFill>
                  <a:schemeClr val="bg2"/>
                </a:solidFill>
              </a:rPr>
              <a:t>Image I/O, colour conversion, JPEG</a:t>
            </a:r>
            <a:endParaRPr lang="en-US" sz="1800" dirty="0"/>
          </a:p>
        </p:txBody>
      </p:sp>
      <p:sp>
        <p:nvSpPr>
          <p:cNvPr id="11" name="Dot"/>
          <p:cNvSpPr/>
          <p:nvPr/>
        </p:nvSpPr>
        <p:spPr>
          <a:xfrm>
            <a:off x="822960" y="4590288"/>
            <a:ext cx="201168" cy="201168"/>
          </a:xfrm>
          <a:prstGeom prst="ellipse">
            <a:avLst/>
          </a:prstGeom>
          <a:solidFill>
            <a:schemeClr val="accent1"/>
          </a:solidFill>
          <a:ln w="12700">
            <a:solidFill>
              <a:schemeClr val="accent1"/>
            </a:solidFill>
            <a:prstDash val="solid"/>
          </a:ln>
        </p:spPr>
      </p:sp>
      <p:sp>
        <p:nvSpPr>
          <p:cNvPr id="12" name="Tech Streamlit"/>
          <p:cNvSpPr txBox="1"/>
          <p:nvPr/>
        </p:nvSpPr>
        <p:spPr>
          <a:xfrm>
            <a:off x="1188720" y="4434840"/>
            <a:ext cx="4572000" cy="685800"/>
          </a:xfrm>
          <a:prstGeom prst="rect">
            <a:avLst/>
          </a:prstGeom>
          <a:noFill/>
          <a:ln/>
        </p:spPr>
        <p:txBody>
          <a:bodyPr wrap="square" lIns="0" tIns="0" rIns="0" bIns="0" rtlCol="0" anchor="t"/>
          <a:lstStyle/>
          <a:p>
            <a:pPr marL="0" indent="0">
              <a:buNone/>
            </a:pPr>
            <a:r>
              <a:rPr lang="en-US" sz="1800" b="1" dirty="0">
                <a:solidFill>
                  <a:schemeClr val="bg1"/>
                </a:solidFill>
              </a:rPr>
              <a:t>Streamlit</a:t>
            </a:r>
            <a:endParaRPr lang="en-US" sz="1800" dirty="0"/>
          </a:p>
          <a:p>
            <a:pPr marL="0" indent="0">
              <a:buNone/>
            </a:pPr>
            <a:r>
              <a:rPr lang="en-US" sz="1400" dirty="0">
                <a:solidFill>
                  <a:schemeClr val="bg2"/>
                </a:solidFill>
              </a:rPr>
              <a:t>Web interface (Sign and Verify tabs)</a:t>
            </a:r>
            <a:endParaRPr lang="en-US" sz="1800" dirty="0"/>
          </a:p>
        </p:txBody>
      </p:sp>
      <p:sp>
        <p:nvSpPr>
          <p:cNvPr id="13" name="Dot"/>
          <p:cNvSpPr/>
          <p:nvPr/>
        </p:nvSpPr>
        <p:spPr>
          <a:xfrm>
            <a:off x="822960" y="5367528"/>
            <a:ext cx="201168" cy="201168"/>
          </a:xfrm>
          <a:prstGeom prst="ellipse">
            <a:avLst/>
          </a:prstGeom>
          <a:solidFill>
            <a:schemeClr val="accent1"/>
          </a:solidFill>
          <a:ln w="12700">
            <a:solidFill>
              <a:schemeClr val="accent1"/>
            </a:solidFill>
            <a:prstDash val="solid"/>
          </a:ln>
        </p:spPr>
      </p:sp>
      <p:sp>
        <p:nvSpPr>
          <p:cNvPr id="14" name="Tech Matplotlib and Pytest"/>
          <p:cNvSpPr txBox="1"/>
          <p:nvPr/>
        </p:nvSpPr>
        <p:spPr>
          <a:xfrm>
            <a:off x="1188720" y="5212080"/>
            <a:ext cx="4572000" cy="685800"/>
          </a:xfrm>
          <a:prstGeom prst="rect">
            <a:avLst/>
          </a:prstGeom>
          <a:noFill/>
          <a:ln/>
        </p:spPr>
        <p:txBody>
          <a:bodyPr wrap="square" lIns="0" tIns="0" rIns="0" bIns="0" rtlCol="0" anchor="t"/>
          <a:lstStyle/>
          <a:p>
            <a:pPr marL="0" indent="0">
              <a:buNone/>
            </a:pPr>
            <a:r>
              <a:rPr lang="en-US" sz="1800" b="1" dirty="0">
                <a:solidFill>
                  <a:schemeClr val="bg1"/>
                </a:solidFill>
              </a:rPr>
              <a:t>Matplotlib and Pytest</a:t>
            </a:r>
            <a:endParaRPr lang="en-US" sz="1800" dirty="0"/>
          </a:p>
          <a:p>
            <a:pPr marL="0" indent="0">
              <a:buNone/>
            </a:pPr>
            <a:r>
              <a:rPr lang="en-US" sz="1400" dirty="0">
                <a:solidFill>
                  <a:schemeClr val="bg2"/>
                </a:solidFill>
              </a:rPr>
              <a:t>Result charts; 11 unit tests</a:t>
            </a:r>
            <a:endParaRPr lang="en-US" sz="1800" dirty="0"/>
          </a:p>
        </p:txBody>
      </p:sp>
      <p:sp>
        <p:nvSpPr>
          <p:cNvPr id="15" name="Algorithms and security card"/>
          <p:cNvSpPr/>
          <p:nvPr/>
        </p:nvSpPr>
        <p:spPr>
          <a:xfrm>
            <a:off x="6126480" y="1371600"/>
            <a:ext cx="5440680" cy="4754880"/>
          </a:xfrm>
          <a:prstGeom prst="roundRect">
            <a:avLst>
              <a:gd name="adj" fmla="val 2308"/>
            </a:avLst>
          </a:prstGeom>
          <a:solidFill>
            <a:schemeClr val="tx2"/>
          </a:solidFill>
          <a:ln w="12700">
            <a:solidFill>
              <a:schemeClr val="tx2"/>
            </a:solidFill>
            <a:prstDash val="solid"/>
          </a:ln>
        </p:spPr>
      </p:sp>
      <p:sp>
        <p:nvSpPr>
          <p:cNvPr id="16" name="Algorithms and security heading"/>
          <p:cNvSpPr txBox="1"/>
          <p:nvPr/>
        </p:nvSpPr>
        <p:spPr>
          <a:xfrm>
            <a:off x="6400800" y="1554480"/>
            <a:ext cx="4846320" cy="411480"/>
          </a:xfrm>
          <a:prstGeom prst="rect">
            <a:avLst/>
          </a:prstGeom>
          <a:noFill/>
          <a:ln/>
        </p:spPr>
        <p:txBody>
          <a:bodyPr wrap="square" lIns="0" tIns="0" rIns="0" bIns="0" rtlCol="0" anchor="ctr"/>
          <a:lstStyle/>
          <a:p>
            <a:pPr marL="0" indent="0">
              <a:buNone/>
            </a:pPr>
            <a:r>
              <a:rPr lang="en-US" sz="1800" b="1" dirty="0">
                <a:solidFill>
                  <a:schemeClr val="accent2"/>
                </a:solidFill>
              </a:rPr>
              <a:t>ALGORITHMS AND SECURITY</a:t>
            </a:r>
            <a:endParaRPr lang="en-US" sz="1800" dirty="0"/>
          </a:p>
        </p:txBody>
      </p:sp>
      <p:sp>
        <p:nvSpPr>
          <p:cNvPr id="17" name="Dot"/>
          <p:cNvSpPr/>
          <p:nvPr/>
        </p:nvSpPr>
        <p:spPr>
          <a:xfrm>
            <a:off x="6400800" y="2258568"/>
            <a:ext cx="201168" cy="201168"/>
          </a:xfrm>
          <a:prstGeom prst="ellipse">
            <a:avLst/>
          </a:prstGeom>
          <a:solidFill>
            <a:schemeClr val="accent2"/>
          </a:solidFill>
          <a:ln w="12700">
            <a:solidFill>
              <a:schemeClr val="accent2"/>
            </a:solidFill>
            <a:prstDash val="solid"/>
          </a:ln>
        </p:spPr>
      </p:sp>
      <p:sp>
        <p:nvSpPr>
          <p:cNvPr id="18" name="Tech Haar DWT"/>
          <p:cNvSpPr txBox="1"/>
          <p:nvPr/>
        </p:nvSpPr>
        <p:spPr>
          <a:xfrm>
            <a:off x="6766560" y="2103120"/>
            <a:ext cx="4572000" cy="685800"/>
          </a:xfrm>
          <a:prstGeom prst="rect">
            <a:avLst/>
          </a:prstGeom>
          <a:noFill/>
          <a:ln/>
        </p:spPr>
        <p:txBody>
          <a:bodyPr wrap="square" lIns="0" tIns="0" rIns="0" bIns="0" rtlCol="0" anchor="t"/>
          <a:lstStyle/>
          <a:p>
            <a:pPr marL="0" indent="0">
              <a:buNone/>
            </a:pPr>
            <a:r>
              <a:rPr lang="en-US" sz="1800" b="1" dirty="0">
                <a:solidFill>
                  <a:schemeClr val="bg1"/>
                </a:solidFill>
              </a:rPr>
              <a:t>Haar DWT</a:t>
            </a:r>
            <a:endParaRPr lang="en-US" sz="1800" dirty="0"/>
          </a:p>
          <a:p>
            <a:pPr marL="0" indent="0">
              <a:buNone/>
            </a:pPr>
            <a:r>
              <a:rPr lang="en-US" sz="1400" dirty="0">
                <a:solidFill>
                  <a:schemeClr val="bg2"/>
                </a:solidFill>
              </a:rPr>
              <a:t>Splits luminance into frequency bands</a:t>
            </a:r>
            <a:endParaRPr lang="en-US" sz="1800" dirty="0"/>
          </a:p>
        </p:txBody>
      </p:sp>
      <p:sp>
        <p:nvSpPr>
          <p:cNvPr id="19" name="Dot"/>
          <p:cNvSpPr/>
          <p:nvPr/>
        </p:nvSpPr>
        <p:spPr>
          <a:xfrm>
            <a:off x="6400800" y="3035808"/>
            <a:ext cx="201168" cy="201168"/>
          </a:xfrm>
          <a:prstGeom prst="ellipse">
            <a:avLst/>
          </a:prstGeom>
          <a:solidFill>
            <a:schemeClr val="accent2"/>
          </a:solidFill>
          <a:ln w="12700">
            <a:solidFill>
              <a:schemeClr val="accent2"/>
            </a:solidFill>
            <a:prstDash val="solid"/>
          </a:ln>
        </p:spPr>
      </p:sp>
      <p:sp>
        <p:nvSpPr>
          <p:cNvPr id="20" name="Tech 8x8 block DCT"/>
          <p:cNvSpPr txBox="1"/>
          <p:nvPr/>
        </p:nvSpPr>
        <p:spPr>
          <a:xfrm>
            <a:off x="6766560" y="2880360"/>
            <a:ext cx="4572000" cy="685800"/>
          </a:xfrm>
          <a:prstGeom prst="rect">
            <a:avLst/>
          </a:prstGeom>
          <a:noFill/>
          <a:ln/>
        </p:spPr>
        <p:txBody>
          <a:bodyPr wrap="square" lIns="0" tIns="0" rIns="0" bIns="0" rtlCol="0" anchor="t"/>
          <a:lstStyle/>
          <a:p>
            <a:pPr marL="0" indent="0">
              <a:buNone/>
            </a:pPr>
            <a:r>
              <a:rPr lang="en-US" sz="1800" b="1" dirty="0">
                <a:solidFill>
                  <a:schemeClr val="bg1"/>
                </a:solidFill>
              </a:rPr>
              <a:t>8x8 block DCT</a:t>
            </a:r>
            <a:endParaRPr lang="en-US" sz="1800" dirty="0"/>
          </a:p>
          <a:p>
            <a:pPr marL="0" indent="0">
              <a:buNone/>
            </a:pPr>
            <a:r>
              <a:rPr lang="en-US" sz="1400" dirty="0">
                <a:solidFill>
                  <a:schemeClr val="bg2"/>
                </a:solidFill>
              </a:rPr>
              <a:t>Mid-frequency coefficients carry the mark</a:t>
            </a:r>
            <a:endParaRPr lang="en-US" sz="1800" dirty="0"/>
          </a:p>
        </p:txBody>
      </p:sp>
      <p:sp>
        <p:nvSpPr>
          <p:cNvPr id="21" name="Dot"/>
          <p:cNvSpPr/>
          <p:nvPr/>
        </p:nvSpPr>
        <p:spPr>
          <a:xfrm>
            <a:off x="6400800" y="3813048"/>
            <a:ext cx="201168" cy="201168"/>
          </a:xfrm>
          <a:prstGeom prst="ellipse">
            <a:avLst/>
          </a:prstGeom>
          <a:solidFill>
            <a:schemeClr val="accent2"/>
          </a:solidFill>
          <a:ln w="12700">
            <a:solidFill>
              <a:schemeClr val="accent2"/>
            </a:solidFill>
            <a:prstDash val="solid"/>
          </a:ln>
        </p:spPr>
      </p:sp>
      <p:sp>
        <p:nvSpPr>
          <p:cNvPr id="22" name="Tech QIM"/>
          <p:cNvSpPr txBox="1"/>
          <p:nvPr/>
        </p:nvSpPr>
        <p:spPr>
          <a:xfrm>
            <a:off x="6766560" y="3657600"/>
            <a:ext cx="4572000" cy="685800"/>
          </a:xfrm>
          <a:prstGeom prst="rect">
            <a:avLst/>
          </a:prstGeom>
          <a:noFill/>
          <a:ln/>
        </p:spPr>
        <p:txBody>
          <a:bodyPr wrap="square" lIns="0" tIns="0" rIns="0" bIns="0" rtlCol="0" anchor="t"/>
          <a:lstStyle/>
          <a:p>
            <a:pPr marL="0" indent="0">
              <a:buNone/>
            </a:pPr>
            <a:r>
              <a:rPr lang="en-US" sz="1800" b="1" dirty="0">
                <a:solidFill>
                  <a:schemeClr val="bg1"/>
                </a:solidFill>
              </a:rPr>
              <a:t>QIM</a:t>
            </a:r>
            <a:endParaRPr lang="en-US" sz="1800" dirty="0"/>
          </a:p>
          <a:p>
            <a:pPr marL="0" indent="0">
              <a:buNone/>
            </a:pPr>
            <a:r>
              <a:rPr lang="en-US" sz="1400" dirty="0">
                <a:solidFill>
                  <a:schemeClr val="bg2"/>
                </a:solidFill>
              </a:rPr>
              <a:t>Quantization Index Modulation embeds each bit</a:t>
            </a:r>
            <a:endParaRPr lang="en-US" sz="1800" dirty="0"/>
          </a:p>
        </p:txBody>
      </p:sp>
      <p:sp>
        <p:nvSpPr>
          <p:cNvPr id="23" name="Dot"/>
          <p:cNvSpPr/>
          <p:nvPr/>
        </p:nvSpPr>
        <p:spPr>
          <a:xfrm>
            <a:off x="6400800" y="4590288"/>
            <a:ext cx="201168" cy="201168"/>
          </a:xfrm>
          <a:prstGeom prst="ellipse">
            <a:avLst/>
          </a:prstGeom>
          <a:solidFill>
            <a:schemeClr val="accent2"/>
          </a:solidFill>
          <a:ln w="12700">
            <a:solidFill>
              <a:schemeClr val="accent2"/>
            </a:solidFill>
            <a:prstDash val="solid"/>
          </a:ln>
        </p:spPr>
      </p:sp>
      <p:sp>
        <p:nvSpPr>
          <p:cNvPr id="24" name="Tech HMAC-SHA256"/>
          <p:cNvSpPr txBox="1"/>
          <p:nvPr/>
        </p:nvSpPr>
        <p:spPr>
          <a:xfrm>
            <a:off x="6766560" y="4434840"/>
            <a:ext cx="4572000" cy="685800"/>
          </a:xfrm>
          <a:prstGeom prst="rect">
            <a:avLst/>
          </a:prstGeom>
          <a:noFill/>
          <a:ln/>
        </p:spPr>
        <p:txBody>
          <a:bodyPr wrap="square" lIns="0" tIns="0" rIns="0" bIns="0" rtlCol="0" anchor="t"/>
          <a:lstStyle/>
          <a:p>
            <a:pPr marL="0" indent="0">
              <a:buNone/>
            </a:pPr>
            <a:r>
              <a:rPr lang="en-US" sz="1800" b="1" dirty="0">
                <a:solidFill>
                  <a:schemeClr val="bg1"/>
                </a:solidFill>
              </a:rPr>
              <a:t>HMAC-SHA256</a:t>
            </a:r>
            <a:endParaRPr lang="en-US" sz="1800" dirty="0"/>
          </a:p>
          <a:p>
            <a:pPr marL="0" indent="0">
              <a:buNone/>
            </a:pPr>
            <a:r>
              <a:rPr lang="en-US" sz="1400" dirty="0">
                <a:solidFill>
                  <a:schemeClr val="bg2"/>
                </a:solidFill>
              </a:rPr>
              <a:t>Key-based signature; blocks forgery</a:t>
            </a:r>
            <a:endParaRPr lang="en-US" sz="1800" dirty="0"/>
          </a:p>
        </p:txBody>
      </p:sp>
      <p:sp>
        <p:nvSpPr>
          <p:cNvPr id="25" name="Dot"/>
          <p:cNvSpPr/>
          <p:nvPr/>
        </p:nvSpPr>
        <p:spPr>
          <a:xfrm>
            <a:off x="6400800" y="5367528"/>
            <a:ext cx="201168" cy="201168"/>
          </a:xfrm>
          <a:prstGeom prst="ellipse">
            <a:avLst/>
          </a:prstGeom>
          <a:solidFill>
            <a:schemeClr val="accent2"/>
          </a:solidFill>
          <a:ln w="12700">
            <a:solidFill>
              <a:schemeClr val="accent2"/>
            </a:solidFill>
            <a:prstDash val="solid"/>
          </a:ln>
        </p:spPr>
      </p:sp>
      <p:sp>
        <p:nvSpPr>
          <p:cNvPr id="26" name="Tech Soft majority voting"/>
          <p:cNvSpPr txBox="1"/>
          <p:nvPr/>
        </p:nvSpPr>
        <p:spPr>
          <a:xfrm>
            <a:off x="6766560" y="5212080"/>
            <a:ext cx="4572000" cy="685800"/>
          </a:xfrm>
          <a:prstGeom prst="rect">
            <a:avLst/>
          </a:prstGeom>
          <a:noFill/>
          <a:ln/>
        </p:spPr>
        <p:txBody>
          <a:bodyPr wrap="square" lIns="0" tIns="0" rIns="0" bIns="0" rtlCol="0" anchor="t"/>
          <a:lstStyle/>
          <a:p>
            <a:pPr marL="0" indent="0">
              <a:buNone/>
            </a:pPr>
            <a:r>
              <a:rPr lang="en-US" sz="1800" b="1" dirty="0">
                <a:solidFill>
                  <a:schemeClr val="bg1"/>
                </a:solidFill>
              </a:rPr>
              <a:t>Soft majority voting</a:t>
            </a:r>
            <a:endParaRPr lang="en-US" sz="1800" dirty="0"/>
          </a:p>
          <a:p>
            <a:pPr marL="0" indent="0">
              <a:buNone/>
            </a:pPr>
            <a:r>
              <a:rPr lang="en-US" sz="1400" dirty="0">
                <a:solidFill>
                  <a:schemeClr val="bg2"/>
                </a:solidFill>
              </a:rPr>
              <a:t>Recovers bits after distortion</a:t>
            </a:r>
            <a:endParaRPr lang="en-US" sz="1800" dirty="0"/>
          </a:p>
        </p:txBody>
      </p:sp>
      <p:sp>
        <p:nvSpPr>
          <p:cNvPr id="27"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bg1"/>
                </a:solidFill>
              </a:rPr>
              <a:t>End-to-End Architecture</a:t>
            </a:r>
            <a:endParaRPr lang="en-US" sz="3200" dirty="0"/>
          </a:p>
        </p:txBody>
      </p:sp>
      <p:sp>
        <p:nvSpPr>
          <p:cNvPr id="4" name="Callout 1"/>
          <p:cNvSpPr/>
          <p:nvPr/>
        </p:nvSpPr>
        <p:spPr>
          <a:xfrm>
            <a:off x="9144000" y="1325880"/>
            <a:ext cx="2468880" cy="1463040"/>
          </a:xfrm>
          <a:prstGeom prst="roundRect">
            <a:avLst>
              <a:gd name="adj" fmla="val 7500"/>
            </a:avLst>
          </a:prstGeom>
          <a:solidFill>
            <a:schemeClr val="tx2"/>
          </a:solidFill>
          <a:ln w="12700">
            <a:solidFill>
              <a:schemeClr val="tx2"/>
            </a:solidFill>
            <a:prstDash val="solid"/>
          </a:ln>
        </p:spPr>
      </p:sp>
      <p:sp>
        <p:nvSpPr>
          <p:cNvPr id="5" name="Callout text 1"/>
          <p:cNvSpPr txBox="1"/>
          <p:nvPr/>
        </p:nvSpPr>
        <p:spPr>
          <a:xfrm>
            <a:off x="9281160" y="14173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accent1"/>
                </a:solidFill>
              </a:rPr>
              <a:t>Sign</a:t>
            </a:r>
            <a:endParaRPr lang="en-US" sz="1600" dirty="0"/>
          </a:p>
          <a:p>
            <a:pPr marL="0" indent="0">
              <a:spcAft>
                <a:spcPts val="300"/>
              </a:spcAft>
              <a:buNone/>
            </a:pPr>
            <a:r>
              <a:rPr lang="en-US" sz="1400" dirty="0">
                <a:solidFill>
                  <a:schemeClr val="bg1"/>
                </a:solidFill>
              </a:rPr>
              <a:t>Payload + key go into the embed engine; output is a lossless PNG.</a:t>
            </a:r>
            <a:endParaRPr lang="en-US" sz="1600" dirty="0"/>
          </a:p>
        </p:txBody>
      </p:sp>
      <p:sp>
        <p:nvSpPr>
          <p:cNvPr id="6" name="Callout 2"/>
          <p:cNvSpPr/>
          <p:nvPr/>
        </p:nvSpPr>
        <p:spPr>
          <a:xfrm>
            <a:off x="9144000" y="2926080"/>
            <a:ext cx="2468880" cy="1463040"/>
          </a:xfrm>
          <a:prstGeom prst="roundRect">
            <a:avLst>
              <a:gd name="adj" fmla="val 7500"/>
            </a:avLst>
          </a:prstGeom>
          <a:solidFill>
            <a:schemeClr val="tx2"/>
          </a:solidFill>
          <a:ln w="12700">
            <a:solidFill>
              <a:schemeClr val="tx2"/>
            </a:solidFill>
            <a:prstDash val="solid"/>
          </a:ln>
        </p:spPr>
      </p:sp>
      <p:sp>
        <p:nvSpPr>
          <p:cNvPr id="7" name="Callout text 2"/>
          <p:cNvSpPr txBox="1"/>
          <p:nvPr/>
        </p:nvSpPr>
        <p:spPr>
          <a:xfrm>
            <a:off x="9281160" y="30175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accent1"/>
                </a:solidFill>
              </a:rPr>
              <a:t>Survive</a:t>
            </a:r>
            <a:endParaRPr lang="en-US" sz="1600" dirty="0"/>
          </a:p>
          <a:p>
            <a:pPr marL="0" indent="0">
              <a:spcAft>
                <a:spcPts val="300"/>
              </a:spcAft>
              <a:buNone/>
            </a:pPr>
            <a:r>
              <a:rPr lang="en-US" sz="1400" dirty="0">
                <a:solidFill>
                  <a:schemeClr val="bg1"/>
                </a:solidFill>
              </a:rPr>
              <a:t>The mark must survive JPEG, noise, brightness and rescale.</a:t>
            </a:r>
            <a:endParaRPr lang="en-US" sz="1600" dirty="0"/>
          </a:p>
        </p:txBody>
      </p:sp>
      <p:sp>
        <p:nvSpPr>
          <p:cNvPr id="8" name="Callout 3"/>
          <p:cNvSpPr/>
          <p:nvPr/>
        </p:nvSpPr>
        <p:spPr>
          <a:xfrm>
            <a:off x="9144000" y="4526280"/>
            <a:ext cx="2468880" cy="1463040"/>
          </a:xfrm>
          <a:prstGeom prst="roundRect">
            <a:avLst>
              <a:gd name="adj" fmla="val 7500"/>
            </a:avLst>
          </a:prstGeom>
          <a:solidFill>
            <a:schemeClr val="tx2"/>
          </a:solidFill>
          <a:ln w="12700">
            <a:solidFill>
              <a:schemeClr val="tx2"/>
            </a:solidFill>
            <a:prstDash val="solid"/>
          </a:ln>
        </p:spPr>
      </p:sp>
      <p:sp>
        <p:nvSpPr>
          <p:cNvPr id="9" name="Callout text 3"/>
          <p:cNvSpPr txBox="1"/>
          <p:nvPr/>
        </p:nvSpPr>
        <p:spPr>
          <a:xfrm>
            <a:off x="9281160" y="46177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accent1"/>
                </a:solidFill>
              </a:rPr>
              <a:t>Verify</a:t>
            </a:r>
            <a:endParaRPr lang="en-US" sz="1600" dirty="0"/>
          </a:p>
          <a:p>
            <a:pPr marL="0" indent="0">
              <a:spcAft>
                <a:spcPts val="300"/>
              </a:spcAft>
              <a:buNone/>
            </a:pPr>
            <a:r>
              <a:rPr lang="en-US" sz="1400" dirty="0">
                <a:solidFill>
                  <a:schemeClr val="bg1"/>
                </a:solidFill>
              </a:rPr>
              <a:t>HMAC check first, then block consensus decides the verdict.</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6</a:t>
            </a:fld>
            <a:endParaRPr lang="en-US"/>
          </a:p>
        </p:txBody>
      </p:sp>
      <p:pic>
        <p:nvPicPr>
          <p:cNvPr id="11" name="Picture 10">
            <a:extLst>
              <a:ext uri="{FF2B5EF4-FFF2-40B4-BE49-F238E27FC236}">
                <a16:creationId xmlns:a16="http://schemas.microsoft.com/office/drawing/2014/main" id="{B262D860-7CAD-00BE-9E85-901E8590565F}"/>
              </a:ext>
            </a:extLst>
          </p:cNvPr>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bg1"/>
                </a:solidFill>
              </a:rPr>
              <a:t>Embedding Pipeline: DWT, DCT, QIM</a:t>
            </a:r>
            <a:endParaRPr lang="en-US" sz="3200" dirty="0"/>
          </a:p>
        </p:txBody>
      </p:sp>
      <p:sp>
        <p:nvSpPr>
          <p:cNvPr id="4" name="Callout 1"/>
          <p:cNvSpPr/>
          <p:nvPr/>
        </p:nvSpPr>
        <p:spPr>
          <a:xfrm>
            <a:off x="9144000" y="1325880"/>
            <a:ext cx="2468880" cy="1463040"/>
          </a:xfrm>
          <a:prstGeom prst="roundRect">
            <a:avLst>
              <a:gd name="adj" fmla="val 7500"/>
            </a:avLst>
          </a:prstGeom>
          <a:solidFill>
            <a:schemeClr val="tx2"/>
          </a:solidFill>
          <a:ln w="12700">
            <a:solidFill>
              <a:schemeClr val="tx2"/>
            </a:solidFill>
            <a:prstDash val="solid"/>
          </a:ln>
        </p:spPr>
      </p:sp>
      <p:sp>
        <p:nvSpPr>
          <p:cNvPr id="5" name="Callout text 1"/>
          <p:cNvSpPr txBox="1"/>
          <p:nvPr/>
        </p:nvSpPr>
        <p:spPr>
          <a:xfrm>
            <a:off x="9281160" y="14173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accent1"/>
                </a:solidFill>
              </a:rPr>
              <a:t>Luminance only</a:t>
            </a:r>
            <a:endParaRPr lang="en-US" sz="1600" dirty="0"/>
          </a:p>
          <a:p>
            <a:pPr marL="0" indent="0">
              <a:spcAft>
                <a:spcPts val="300"/>
              </a:spcAft>
              <a:buNone/>
            </a:pPr>
            <a:r>
              <a:rPr lang="en-US" sz="1400" dirty="0">
                <a:solidFill>
                  <a:schemeClr val="bg1"/>
                </a:solidFill>
              </a:rPr>
              <a:t>Colour channels pass through untouched, keeping it invisible.</a:t>
            </a:r>
            <a:endParaRPr lang="en-US" sz="1600" dirty="0"/>
          </a:p>
        </p:txBody>
      </p:sp>
      <p:sp>
        <p:nvSpPr>
          <p:cNvPr id="6" name="Callout 2"/>
          <p:cNvSpPr/>
          <p:nvPr/>
        </p:nvSpPr>
        <p:spPr>
          <a:xfrm>
            <a:off x="9144000" y="2926080"/>
            <a:ext cx="2468880" cy="1463040"/>
          </a:xfrm>
          <a:prstGeom prst="roundRect">
            <a:avLst>
              <a:gd name="adj" fmla="val 7500"/>
            </a:avLst>
          </a:prstGeom>
          <a:solidFill>
            <a:schemeClr val="tx2"/>
          </a:solidFill>
          <a:ln w="12700">
            <a:solidFill>
              <a:schemeClr val="tx2"/>
            </a:solidFill>
            <a:prstDash val="solid"/>
          </a:ln>
        </p:spPr>
      </p:sp>
      <p:sp>
        <p:nvSpPr>
          <p:cNvPr id="7" name="Callout text 2"/>
          <p:cNvSpPr txBox="1"/>
          <p:nvPr/>
        </p:nvSpPr>
        <p:spPr>
          <a:xfrm>
            <a:off x="9281160" y="30175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accent1"/>
                </a:solidFill>
              </a:rPr>
              <a:t>Spread by key</a:t>
            </a:r>
            <a:endParaRPr lang="en-US" sz="1600" dirty="0"/>
          </a:p>
          <a:p>
            <a:pPr marL="0" indent="0">
              <a:spcAft>
                <a:spcPts val="300"/>
              </a:spcAft>
              <a:buNone/>
            </a:pPr>
            <a:r>
              <a:rPr lang="en-US" sz="1400" dirty="0">
                <a:solidFill>
                  <a:schemeClr val="bg1"/>
                </a:solidFill>
              </a:rPr>
              <a:t>A key-seeded permutation scatters each bit over many blocks.</a:t>
            </a:r>
            <a:endParaRPr lang="en-US" sz="1600" dirty="0"/>
          </a:p>
        </p:txBody>
      </p:sp>
      <p:sp>
        <p:nvSpPr>
          <p:cNvPr id="8" name="Callout 3"/>
          <p:cNvSpPr/>
          <p:nvPr/>
        </p:nvSpPr>
        <p:spPr>
          <a:xfrm>
            <a:off x="9144000" y="4526280"/>
            <a:ext cx="2468880" cy="1463040"/>
          </a:xfrm>
          <a:prstGeom prst="roundRect">
            <a:avLst>
              <a:gd name="adj" fmla="val 7500"/>
            </a:avLst>
          </a:prstGeom>
          <a:solidFill>
            <a:schemeClr val="tx2"/>
          </a:solidFill>
          <a:ln w="12700">
            <a:solidFill>
              <a:schemeClr val="tx2"/>
            </a:solidFill>
            <a:prstDash val="solid"/>
          </a:ln>
        </p:spPr>
      </p:sp>
      <p:sp>
        <p:nvSpPr>
          <p:cNvPr id="9" name="Callout text 3"/>
          <p:cNvSpPr txBox="1"/>
          <p:nvPr/>
        </p:nvSpPr>
        <p:spPr>
          <a:xfrm>
            <a:off x="9281160" y="46177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accent1"/>
                </a:solidFill>
              </a:rPr>
              <a:t>QIM rule</a:t>
            </a:r>
            <a:endParaRPr lang="en-US" sz="1600" dirty="0"/>
          </a:p>
          <a:p>
            <a:pPr marL="0" indent="0">
              <a:spcAft>
                <a:spcPts val="300"/>
              </a:spcAft>
              <a:buNone/>
            </a:pPr>
            <a:r>
              <a:rPr lang="en-US" sz="1400" dirty="0">
                <a:solidFill>
                  <a:schemeClr val="bg1"/>
                </a:solidFill>
              </a:rPr>
              <a:t>Each coefficient snaps to the lattice of its bit; delta = 28.</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7</a:t>
            </a:fld>
            <a:endParaRPr lang="en-US"/>
          </a:p>
        </p:txBody>
      </p:sp>
      <p:pic>
        <p:nvPicPr>
          <p:cNvPr id="11" name="Picture 10">
            <a:extLst>
              <a:ext uri="{FF2B5EF4-FFF2-40B4-BE49-F238E27FC236}">
                <a16:creationId xmlns:a16="http://schemas.microsoft.com/office/drawing/2014/main" id="{ACB7399B-68EF-E6F3-61BB-89A87F238E5B}"/>
              </a:ext>
            </a:extLst>
          </p:cNvPr>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bg1"/>
                </a:solidFill>
              </a:rPr>
              <a:t>Verification and Tamper-Localization Flow</a:t>
            </a:r>
            <a:endParaRPr lang="en-US" sz="3200" dirty="0"/>
          </a:p>
        </p:txBody>
      </p:sp>
      <p:pic>
        <p:nvPicPr>
          <p:cNvPr id="3" name="Diagram" descr="Verification and Tamper-Localization Flow diagram"/>
          <p:cNvPicPr>
            <a:picLocks noChangeAspect="1"/>
          </p:cNvPicPr>
          <p:nvPr/>
        </p:nvPicPr>
        <p:blipFill>
          <a:blip r:embed="rId3"/>
          <a:stretch>
            <a:fillRect/>
          </a:stretch>
        </p:blipFill>
        <p:spPr>
          <a:xfrm>
            <a:off x="548640" y="1325880"/>
            <a:ext cx="8412480" cy="4732020"/>
          </a:xfrm>
          <a:prstGeom prst="rect">
            <a:avLst/>
          </a:prstGeom>
        </p:spPr>
      </p:pic>
      <p:sp>
        <p:nvSpPr>
          <p:cNvPr id="4" name="Callout 1"/>
          <p:cNvSpPr/>
          <p:nvPr/>
        </p:nvSpPr>
        <p:spPr>
          <a:xfrm>
            <a:off x="9144000" y="1325880"/>
            <a:ext cx="2468880" cy="1463040"/>
          </a:xfrm>
          <a:prstGeom prst="roundRect">
            <a:avLst>
              <a:gd name="adj" fmla="val 7500"/>
            </a:avLst>
          </a:prstGeom>
          <a:solidFill>
            <a:schemeClr val="tx2"/>
          </a:solidFill>
          <a:ln w="12700">
            <a:solidFill>
              <a:schemeClr val="tx2"/>
            </a:solidFill>
            <a:prstDash val="solid"/>
          </a:ln>
        </p:spPr>
      </p:sp>
      <p:sp>
        <p:nvSpPr>
          <p:cNvPr id="5" name="Callout text 1"/>
          <p:cNvSpPr txBox="1"/>
          <p:nvPr/>
        </p:nvSpPr>
        <p:spPr>
          <a:xfrm>
            <a:off x="9281160" y="14173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accent1"/>
                </a:solidFill>
              </a:rPr>
              <a:t>Trust</a:t>
            </a:r>
            <a:endParaRPr lang="en-US" sz="1600" dirty="0"/>
          </a:p>
          <a:p>
            <a:pPr marL="0" indent="0">
              <a:spcAft>
                <a:spcPts val="300"/>
              </a:spcAft>
              <a:buNone/>
            </a:pPr>
            <a:r>
              <a:rPr lang="en-US" sz="1400" dirty="0">
                <a:solidFill>
                  <a:schemeClr val="bg1"/>
                </a:solidFill>
              </a:rPr>
              <a:t>The HMAC match decides whether the mark is genuine.</a:t>
            </a:r>
            <a:endParaRPr lang="en-US" sz="1600" dirty="0"/>
          </a:p>
        </p:txBody>
      </p:sp>
      <p:sp>
        <p:nvSpPr>
          <p:cNvPr id="6" name="Callout 2"/>
          <p:cNvSpPr/>
          <p:nvPr/>
        </p:nvSpPr>
        <p:spPr>
          <a:xfrm>
            <a:off x="9144000" y="2926080"/>
            <a:ext cx="2468880" cy="1463040"/>
          </a:xfrm>
          <a:prstGeom prst="roundRect">
            <a:avLst>
              <a:gd name="adj" fmla="val 7500"/>
            </a:avLst>
          </a:prstGeom>
          <a:solidFill>
            <a:schemeClr val="tx2"/>
          </a:solidFill>
          <a:ln w="12700">
            <a:solidFill>
              <a:schemeClr val="tx2"/>
            </a:solidFill>
            <a:prstDash val="solid"/>
          </a:ln>
        </p:spPr>
      </p:sp>
      <p:sp>
        <p:nvSpPr>
          <p:cNvPr id="7" name="Callout text 2"/>
          <p:cNvSpPr txBox="1"/>
          <p:nvPr/>
        </p:nvSpPr>
        <p:spPr>
          <a:xfrm>
            <a:off x="9281160" y="30175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accent1"/>
                </a:solidFill>
              </a:rPr>
              <a:t>Integrity</a:t>
            </a:r>
            <a:endParaRPr lang="en-US" sz="1600" dirty="0"/>
          </a:p>
          <a:p>
            <a:pPr marL="0" indent="0">
              <a:spcAft>
                <a:spcPts val="300"/>
              </a:spcAft>
              <a:buNone/>
            </a:pPr>
            <a:r>
              <a:rPr lang="en-US" sz="1400" dirty="0">
                <a:solidFill>
                  <a:schemeClr val="bg1"/>
                </a:solidFill>
              </a:rPr>
              <a:t>Blocks that disagree with the consensus form a tamper map.</a:t>
            </a:r>
            <a:endParaRPr lang="en-US" sz="1600" dirty="0"/>
          </a:p>
        </p:txBody>
      </p:sp>
      <p:sp>
        <p:nvSpPr>
          <p:cNvPr id="8" name="Callout 3"/>
          <p:cNvSpPr/>
          <p:nvPr/>
        </p:nvSpPr>
        <p:spPr>
          <a:xfrm>
            <a:off x="9144000" y="4526280"/>
            <a:ext cx="2468880" cy="1463040"/>
          </a:xfrm>
          <a:prstGeom prst="roundRect">
            <a:avLst>
              <a:gd name="adj" fmla="val 7500"/>
            </a:avLst>
          </a:prstGeom>
          <a:solidFill>
            <a:schemeClr val="tx2"/>
          </a:solidFill>
          <a:ln w="12700">
            <a:solidFill>
              <a:schemeClr val="tx2"/>
            </a:solidFill>
            <a:prstDash val="solid"/>
          </a:ln>
        </p:spPr>
      </p:sp>
      <p:sp>
        <p:nvSpPr>
          <p:cNvPr id="9" name="Callout text 3"/>
          <p:cNvSpPr txBox="1"/>
          <p:nvPr/>
        </p:nvSpPr>
        <p:spPr>
          <a:xfrm>
            <a:off x="9281160" y="4617720"/>
            <a:ext cx="2194560" cy="1280160"/>
          </a:xfrm>
          <a:prstGeom prst="rect">
            <a:avLst/>
          </a:prstGeom>
          <a:noFill/>
          <a:ln/>
        </p:spPr>
        <p:txBody>
          <a:bodyPr wrap="square" lIns="0" tIns="0" rIns="0" bIns="0" rtlCol="0" anchor="t"/>
          <a:lstStyle/>
          <a:p>
            <a:pPr marL="0" indent="0">
              <a:spcAft>
                <a:spcPts val="300"/>
              </a:spcAft>
              <a:buNone/>
            </a:pPr>
            <a:r>
              <a:rPr lang="en-US" sz="1600" b="1" dirty="0">
                <a:solidFill>
                  <a:schemeClr val="accent1"/>
                </a:solidFill>
              </a:rPr>
              <a:t>Thresholds</a:t>
            </a:r>
            <a:endParaRPr lang="en-US" sz="1600" dirty="0"/>
          </a:p>
          <a:p>
            <a:pPr marL="0" indent="0">
              <a:spcAft>
                <a:spcPts val="300"/>
              </a:spcAft>
              <a:buNone/>
            </a:pPr>
            <a:r>
              <a:rPr lang="en-US" sz="1400" dirty="0">
                <a:solidFill>
                  <a:schemeClr val="bg1"/>
                </a:solidFill>
              </a:rPr>
              <a:t>Local filter above 0.3; verdict TAMPERED above 2% area.</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8</a:t>
            </a:fld>
            <a:endParaRPr lang="en-US"/>
          </a:p>
        </p:txBody>
      </p:sp>
      <p:pic>
        <p:nvPicPr>
          <p:cNvPr id="11" name="Picture 10">
            <a:extLst>
              <a:ext uri="{FF2B5EF4-FFF2-40B4-BE49-F238E27FC236}">
                <a16:creationId xmlns:a16="http://schemas.microsoft.com/office/drawing/2014/main" id="{E11DC1E8-6298-B6E3-10CB-2519EBAFE318}"/>
              </a:ext>
            </a:extLst>
          </p:cNvPr>
          <p:cNvPicPr>
            <a:picLocks noChangeAspect="1"/>
          </p:cNvPicPr>
          <p:nvPr/>
        </p:nvPicPr>
        <p:blipFill>
          <a:blip r:embed="rId4"/>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bg1"/>
                </a:solidFill>
              </a:rPr>
              <a:t>Metrics, Validation and Verification Results</a:t>
            </a:r>
            <a:endParaRPr lang="en-US" sz="3200" dirty="0"/>
          </a:p>
        </p:txBody>
      </p:sp>
      <p:sp>
        <p:nvSpPr>
          <p:cNvPr id="3" name="Stat tile 1"/>
          <p:cNvSpPr/>
          <p:nvPr/>
        </p:nvSpPr>
        <p:spPr>
          <a:xfrm>
            <a:off x="548640" y="1371600"/>
            <a:ext cx="2194560" cy="1554480"/>
          </a:xfrm>
          <a:prstGeom prst="roundRect">
            <a:avLst>
              <a:gd name="adj" fmla="val 7059"/>
            </a:avLst>
          </a:prstGeom>
          <a:solidFill>
            <a:schemeClr val="tx2"/>
          </a:solidFill>
          <a:ln w="12700">
            <a:solidFill>
              <a:schemeClr val="tx2"/>
            </a:solidFill>
            <a:prstDash val="solid"/>
          </a:ln>
        </p:spPr>
      </p:sp>
      <p:sp>
        <p:nvSpPr>
          <p:cNvPr id="4" name="Stat value 1"/>
          <p:cNvSpPr txBox="1"/>
          <p:nvPr/>
        </p:nvSpPr>
        <p:spPr>
          <a:xfrm>
            <a:off x="640080" y="1508760"/>
            <a:ext cx="2011680" cy="731520"/>
          </a:xfrm>
          <a:prstGeom prst="rect">
            <a:avLst/>
          </a:prstGeom>
          <a:noFill/>
          <a:ln/>
        </p:spPr>
        <p:txBody>
          <a:bodyPr wrap="square" lIns="0" tIns="0" rIns="0" bIns="0" rtlCol="0" anchor="ctr"/>
          <a:lstStyle/>
          <a:p>
            <a:pPr marL="0" indent="0" algn="ctr">
              <a:buNone/>
            </a:pPr>
            <a:r>
              <a:rPr lang="en-US" sz="3400" b="1" dirty="0">
                <a:solidFill>
                  <a:schemeClr val="accent1"/>
                </a:solidFill>
              </a:rPr>
              <a:t>42.2 dB</a:t>
            </a:r>
            <a:endParaRPr lang="en-US" sz="3400" dirty="0"/>
          </a:p>
        </p:txBody>
      </p:sp>
      <p:sp>
        <p:nvSpPr>
          <p:cNvPr id="5" name="Stat label 1"/>
          <p:cNvSpPr txBox="1"/>
          <p:nvPr/>
        </p:nvSpPr>
        <p:spPr>
          <a:xfrm>
            <a:off x="685800" y="2240280"/>
            <a:ext cx="1920240" cy="594360"/>
          </a:xfrm>
          <a:prstGeom prst="rect">
            <a:avLst/>
          </a:prstGeom>
          <a:noFill/>
          <a:ln/>
        </p:spPr>
        <p:txBody>
          <a:bodyPr wrap="square" lIns="0" tIns="0" rIns="0" bIns="0" rtlCol="0" anchor="t"/>
          <a:lstStyle/>
          <a:p>
            <a:pPr marL="0" indent="0" algn="ctr">
              <a:buNone/>
            </a:pPr>
            <a:r>
              <a:rPr lang="en-US" sz="1400" dirty="0">
                <a:solidFill>
                  <a:schemeClr val="bg2"/>
                </a:solidFill>
              </a:rPr>
              <a:t>PSNR (invisibility)</a:t>
            </a:r>
            <a:endParaRPr lang="en-US" sz="1400" dirty="0"/>
          </a:p>
        </p:txBody>
      </p:sp>
      <p:sp>
        <p:nvSpPr>
          <p:cNvPr id="6" name="Stat tile 2"/>
          <p:cNvSpPr/>
          <p:nvPr/>
        </p:nvSpPr>
        <p:spPr>
          <a:xfrm>
            <a:off x="2880360" y="1371600"/>
            <a:ext cx="2194560" cy="1554480"/>
          </a:xfrm>
          <a:prstGeom prst="roundRect">
            <a:avLst>
              <a:gd name="adj" fmla="val 7059"/>
            </a:avLst>
          </a:prstGeom>
          <a:solidFill>
            <a:schemeClr val="tx2"/>
          </a:solidFill>
          <a:ln w="12700">
            <a:solidFill>
              <a:schemeClr val="tx2"/>
            </a:solidFill>
            <a:prstDash val="solid"/>
          </a:ln>
        </p:spPr>
      </p:sp>
      <p:sp>
        <p:nvSpPr>
          <p:cNvPr id="7" name="Stat value 2"/>
          <p:cNvSpPr txBox="1"/>
          <p:nvPr/>
        </p:nvSpPr>
        <p:spPr>
          <a:xfrm>
            <a:off x="2971800" y="1508760"/>
            <a:ext cx="2011680" cy="731520"/>
          </a:xfrm>
          <a:prstGeom prst="rect">
            <a:avLst/>
          </a:prstGeom>
          <a:noFill/>
          <a:ln/>
        </p:spPr>
        <p:txBody>
          <a:bodyPr wrap="square" lIns="0" tIns="0" rIns="0" bIns="0" rtlCol="0" anchor="ctr"/>
          <a:lstStyle/>
          <a:p>
            <a:pPr marL="0" indent="0" algn="ctr">
              <a:buNone/>
            </a:pPr>
            <a:r>
              <a:rPr lang="en-US" sz="3400" b="1" dirty="0">
                <a:solidFill>
                  <a:schemeClr val="accent1"/>
                </a:solidFill>
              </a:rPr>
              <a:t>0.982</a:t>
            </a:r>
            <a:endParaRPr lang="en-US" sz="3400" dirty="0"/>
          </a:p>
        </p:txBody>
      </p:sp>
      <p:sp>
        <p:nvSpPr>
          <p:cNvPr id="8" name="Stat label 2"/>
          <p:cNvSpPr txBox="1"/>
          <p:nvPr/>
        </p:nvSpPr>
        <p:spPr>
          <a:xfrm>
            <a:off x="3017520" y="2240280"/>
            <a:ext cx="1920240" cy="594360"/>
          </a:xfrm>
          <a:prstGeom prst="rect">
            <a:avLst/>
          </a:prstGeom>
          <a:noFill/>
          <a:ln/>
        </p:spPr>
        <p:txBody>
          <a:bodyPr wrap="square" lIns="0" tIns="0" rIns="0" bIns="0" rtlCol="0" anchor="t"/>
          <a:lstStyle/>
          <a:p>
            <a:pPr marL="0" indent="0" algn="ctr">
              <a:buNone/>
            </a:pPr>
            <a:r>
              <a:rPr lang="en-US" sz="1400" dirty="0">
                <a:solidFill>
                  <a:schemeClr val="bg2"/>
                </a:solidFill>
              </a:rPr>
              <a:t>SSIM</a:t>
            </a:r>
            <a:endParaRPr lang="en-US" sz="1400" dirty="0"/>
          </a:p>
        </p:txBody>
      </p:sp>
      <p:sp>
        <p:nvSpPr>
          <p:cNvPr id="9" name="Stat tile 3"/>
          <p:cNvSpPr/>
          <p:nvPr/>
        </p:nvSpPr>
        <p:spPr>
          <a:xfrm>
            <a:off x="548640" y="3063240"/>
            <a:ext cx="2194560" cy="1554480"/>
          </a:xfrm>
          <a:prstGeom prst="roundRect">
            <a:avLst>
              <a:gd name="adj" fmla="val 7059"/>
            </a:avLst>
          </a:prstGeom>
          <a:solidFill>
            <a:schemeClr val="tx2"/>
          </a:solidFill>
          <a:ln w="12700">
            <a:solidFill>
              <a:schemeClr val="tx2"/>
            </a:solidFill>
            <a:prstDash val="solid"/>
          </a:ln>
        </p:spPr>
      </p:sp>
      <p:sp>
        <p:nvSpPr>
          <p:cNvPr id="10" name="Stat value 3"/>
          <p:cNvSpPr txBox="1"/>
          <p:nvPr/>
        </p:nvSpPr>
        <p:spPr>
          <a:xfrm>
            <a:off x="640080" y="3200400"/>
            <a:ext cx="2011680" cy="731520"/>
          </a:xfrm>
          <a:prstGeom prst="rect">
            <a:avLst/>
          </a:prstGeom>
          <a:noFill/>
          <a:ln/>
        </p:spPr>
        <p:txBody>
          <a:bodyPr wrap="square" lIns="0" tIns="0" rIns="0" bIns="0" rtlCol="0" anchor="ctr"/>
          <a:lstStyle/>
          <a:p>
            <a:pPr marL="0" indent="0" algn="ctr">
              <a:buNone/>
            </a:pPr>
            <a:r>
              <a:rPr lang="en-US" sz="3400" b="1" dirty="0">
                <a:solidFill>
                  <a:schemeClr val="accent1"/>
                </a:solidFill>
              </a:rPr>
              <a:t>8 / 8</a:t>
            </a:r>
            <a:endParaRPr lang="en-US" sz="3400" dirty="0"/>
          </a:p>
        </p:txBody>
      </p:sp>
      <p:sp>
        <p:nvSpPr>
          <p:cNvPr id="11" name="Stat label 3"/>
          <p:cNvSpPr txBox="1"/>
          <p:nvPr/>
        </p:nvSpPr>
        <p:spPr>
          <a:xfrm>
            <a:off x="685800" y="3931920"/>
            <a:ext cx="1920240" cy="594360"/>
          </a:xfrm>
          <a:prstGeom prst="rect">
            <a:avLst/>
          </a:prstGeom>
          <a:noFill/>
          <a:ln/>
        </p:spPr>
        <p:txBody>
          <a:bodyPr wrap="square" lIns="0" tIns="0" rIns="0" bIns="0" rtlCol="0" anchor="t"/>
          <a:lstStyle/>
          <a:p>
            <a:pPr marL="0" indent="0" algn="ctr">
              <a:buNone/>
            </a:pPr>
            <a:r>
              <a:rPr lang="en-US" sz="1400" dirty="0">
                <a:solidFill>
                  <a:schemeClr val="bg2"/>
                </a:solidFill>
              </a:rPr>
              <a:t>edits detected (9% and 4% patches)</a:t>
            </a:r>
            <a:endParaRPr lang="en-US" sz="1400" dirty="0"/>
          </a:p>
        </p:txBody>
      </p:sp>
      <p:sp>
        <p:nvSpPr>
          <p:cNvPr id="12" name="Stat tile 4"/>
          <p:cNvSpPr/>
          <p:nvPr/>
        </p:nvSpPr>
        <p:spPr>
          <a:xfrm>
            <a:off x="2880360" y="3063240"/>
            <a:ext cx="2194560" cy="1554480"/>
          </a:xfrm>
          <a:prstGeom prst="roundRect">
            <a:avLst>
              <a:gd name="adj" fmla="val 7059"/>
            </a:avLst>
          </a:prstGeom>
          <a:solidFill>
            <a:schemeClr val="tx2"/>
          </a:solidFill>
          <a:ln w="12700">
            <a:solidFill>
              <a:schemeClr val="tx2"/>
            </a:solidFill>
            <a:prstDash val="solid"/>
          </a:ln>
        </p:spPr>
      </p:sp>
      <p:sp>
        <p:nvSpPr>
          <p:cNvPr id="13" name="Stat value 4"/>
          <p:cNvSpPr txBox="1"/>
          <p:nvPr/>
        </p:nvSpPr>
        <p:spPr>
          <a:xfrm>
            <a:off x="2971800" y="3200400"/>
            <a:ext cx="2011680" cy="731520"/>
          </a:xfrm>
          <a:prstGeom prst="rect">
            <a:avLst/>
          </a:prstGeom>
          <a:noFill/>
          <a:ln/>
        </p:spPr>
        <p:txBody>
          <a:bodyPr wrap="square" lIns="0" tIns="0" rIns="0" bIns="0" rtlCol="0" anchor="ctr"/>
          <a:lstStyle/>
          <a:p>
            <a:pPr marL="0" indent="0" algn="ctr">
              <a:buNone/>
            </a:pPr>
            <a:r>
              <a:rPr lang="en-US" sz="3400" b="1" dirty="0">
                <a:solidFill>
                  <a:schemeClr val="accent1"/>
                </a:solidFill>
              </a:rPr>
              <a:t>No false</a:t>
            </a:r>
            <a:endParaRPr lang="en-US" sz="3400" dirty="0"/>
          </a:p>
        </p:txBody>
      </p:sp>
      <p:sp>
        <p:nvSpPr>
          <p:cNvPr id="14" name="Stat label 4"/>
          <p:cNvSpPr txBox="1"/>
          <p:nvPr/>
        </p:nvSpPr>
        <p:spPr>
          <a:xfrm>
            <a:off x="3017520" y="3931920"/>
            <a:ext cx="1920240" cy="594360"/>
          </a:xfrm>
          <a:prstGeom prst="rect">
            <a:avLst/>
          </a:prstGeom>
          <a:noFill/>
          <a:ln/>
        </p:spPr>
        <p:txBody>
          <a:bodyPr wrap="square" lIns="0" tIns="0" rIns="0" bIns="0" rtlCol="0" anchor="t"/>
          <a:lstStyle/>
          <a:p>
            <a:pPr marL="0" indent="0" algn="ctr">
              <a:buNone/>
            </a:pPr>
            <a:r>
              <a:rPr lang="en-US" sz="1400" dirty="0">
                <a:solidFill>
                  <a:schemeClr val="bg2"/>
                </a:solidFill>
              </a:rPr>
              <a:t>false accepts (unsigned and wrong key)</a:t>
            </a:r>
            <a:endParaRPr lang="en-US" sz="1400" dirty="0"/>
          </a:p>
        </p:txBody>
      </p:sp>
      <p:sp>
        <p:nvSpPr>
          <p:cNvPr id="15" name="Method card"/>
          <p:cNvSpPr/>
          <p:nvPr/>
        </p:nvSpPr>
        <p:spPr>
          <a:xfrm>
            <a:off x="548640" y="4846320"/>
            <a:ext cx="4526280" cy="1280160"/>
          </a:xfrm>
          <a:prstGeom prst="roundRect">
            <a:avLst>
              <a:gd name="adj" fmla="val 8571"/>
            </a:avLst>
          </a:prstGeom>
          <a:solidFill>
            <a:schemeClr val="tx2"/>
          </a:solidFill>
          <a:ln w="12700">
            <a:solidFill>
              <a:schemeClr val="tx2"/>
            </a:solidFill>
            <a:prstDash val="solid"/>
          </a:ln>
        </p:spPr>
      </p:sp>
      <p:sp>
        <p:nvSpPr>
          <p:cNvPr id="16" name="Method text"/>
          <p:cNvSpPr txBox="1"/>
          <p:nvPr/>
        </p:nvSpPr>
        <p:spPr>
          <a:xfrm>
            <a:off x="731520" y="4892040"/>
            <a:ext cx="4160520" cy="1188720"/>
          </a:xfrm>
          <a:prstGeom prst="rect">
            <a:avLst/>
          </a:prstGeom>
          <a:noFill/>
          <a:ln/>
        </p:spPr>
        <p:txBody>
          <a:bodyPr wrap="square" lIns="0" tIns="0" rIns="0" bIns="0" rtlCol="0" anchor="ctr"/>
          <a:lstStyle/>
          <a:p>
            <a:pPr marL="0" indent="0">
              <a:buNone/>
            </a:pPr>
            <a:r>
              <a:rPr lang="en-US" sz="1400" dirty="0">
                <a:solidFill>
                  <a:schemeClr val="bg1"/>
                </a:solidFill>
              </a:rPr>
              <a:t>Tested on 8 synthetic 512 x 512 images; every attack applied to all 8, each image checked against its own key.</a:t>
            </a:r>
            <a:endParaRPr lang="en-US" sz="1400" dirty="0"/>
          </a:p>
        </p:txBody>
      </p:sp>
      <p:sp>
        <p:nvSpPr>
          <p:cNvPr id="17" name="Chart card"/>
          <p:cNvSpPr/>
          <p:nvPr/>
        </p:nvSpPr>
        <p:spPr>
          <a:xfrm>
            <a:off x="5303520" y="1371600"/>
            <a:ext cx="6263640" cy="4754880"/>
          </a:xfrm>
          <a:prstGeom prst="roundRect">
            <a:avLst>
              <a:gd name="adj" fmla="val 2308"/>
            </a:avLst>
          </a:prstGeom>
          <a:solidFill>
            <a:schemeClr val="tx2"/>
          </a:solidFill>
          <a:ln w="12700">
            <a:solidFill>
              <a:schemeClr val="tx2"/>
            </a:solidFill>
            <a:prstDash val="solid"/>
          </a:ln>
        </p:spPr>
      </p:sp>
      <p:graphicFrame>
        <p:nvGraphicFramePr>
          <p:cNvPr id="18" name="Chart 0"/>
          <p:cNvGraphicFramePr/>
          <p:nvPr/>
        </p:nvGraphicFramePr>
        <p:xfrm>
          <a:off x="5394960" y="1417320"/>
          <a:ext cx="60807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bg1"/>
                </a:solidFill>
              </a:rPr>
              <a:t>Conclusion</a:t>
            </a:r>
            <a:endParaRPr lang="en-US" sz="3200" dirty="0"/>
          </a:p>
        </p:txBody>
      </p:sp>
      <p:sp>
        <p:nvSpPr>
          <p:cNvPr id="3" name="What we achieved card"/>
          <p:cNvSpPr/>
          <p:nvPr/>
        </p:nvSpPr>
        <p:spPr>
          <a:xfrm>
            <a:off x="1051560" y="1325880"/>
            <a:ext cx="3566160" cy="3749040"/>
          </a:xfrm>
          <a:prstGeom prst="roundRect">
            <a:avLst>
              <a:gd name="adj" fmla="val 3077"/>
            </a:avLst>
          </a:prstGeom>
          <a:solidFill>
            <a:schemeClr val="tx2"/>
          </a:solidFill>
          <a:ln w="12700">
            <a:solidFill>
              <a:schemeClr val="tx2"/>
            </a:solidFill>
            <a:prstDash val="solid"/>
          </a:ln>
        </p:spPr>
        <p:txBody>
          <a:bodyPr/>
          <a:lstStyle/>
          <a:p>
            <a:endParaRPr lang="en-IN" dirty="0"/>
          </a:p>
        </p:txBody>
      </p:sp>
      <p:sp>
        <p:nvSpPr>
          <p:cNvPr id="4" name="What we achieved heading"/>
          <p:cNvSpPr txBox="1"/>
          <p:nvPr/>
        </p:nvSpPr>
        <p:spPr>
          <a:xfrm>
            <a:off x="1288558" y="1458375"/>
            <a:ext cx="3017520" cy="411480"/>
          </a:xfrm>
          <a:prstGeom prst="rect">
            <a:avLst/>
          </a:prstGeom>
          <a:noFill/>
          <a:ln/>
        </p:spPr>
        <p:txBody>
          <a:bodyPr wrap="square" lIns="0" tIns="0" rIns="0" bIns="0" rtlCol="0" anchor="ctr"/>
          <a:lstStyle/>
          <a:p>
            <a:pPr marL="0" indent="0">
              <a:buNone/>
            </a:pPr>
            <a:r>
              <a:rPr lang="en-US" sz="1800" b="1" dirty="0">
                <a:solidFill>
                  <a:schemeClr val="accent3"/>
                </a:solidFill>
              </a:rPr>
              <a:t>WHAT WE ACHIEVED</a:t>
            </a:r>
            <a:endParaRPr lang="en-US" sz="1800" dirty="0"/>
          </a:p>
        </p:txBody>
      </p:sp>
      <p:sp>
        <p:nvSpPr>
          <p:cNvPr id="5" name="What we achieved list"/>
          <p:cNvSpPr txBox="1"/>
          <p:nvPr/>
        </p:nvSpPr>
        <p:spPr>
          <a:xfrm>
            <a:off x="1288558" y="2057400"/>
            <a:ext cx="3108960" cy="28346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bg1"/>
                </a:solidFill>
              </a:rPr>
              <a:t>Invisible signed watermark (42 dB PSNR)</a:t>
            </a:r>
            <a:endParaRPr lang="en-US" sz="1700" dirty="0"/>
          </a:p>
          <a:p>
            <a:pPr marL="342900" indent="-342900">
              <a:spcAft>
                <a:spcPts val="1400"/>
              </a:spcAft>
              <a:buSzPct val="100000"/>
              <a:buChar char="•"/>
            </a:pPr>
            <a:r>
              <a:rPr lang="en-US" sz="1700" dirty="0">
                <a:solidFill>
                  <a:schemeClr val="bg1"/>
                </a:solidFill>
              </a:rPr>
              <a:t>Survives JPEG q=50, noise, rescale</a:t>
            </a:r>
            <a:endParaRPr lang="en-US" sz="1700" dirty="0"/>
          </a:p>
          <a:p>
            <a:pPr marL="342900" indent="-342900">
              <a:spcAft>
                <a:spcPts val="1400"/>
              </a:spcAft>
              <a:buSzPct val="100000"/>
              <a:buChar char="•"/>
            </a:pPr>
            <a:r>
              <a:rPr lang="en-US" sz="1700" dirty="0">
                <a:solidFill>
                  <a:schemeClr val="bg1"/>
                </a:solidFill>
              </a:rPr>
              <a:t>Pinpoints edited regions on a heat-map</a:t>
            </a:r>
            <a:endParaRPr lang="en-US" sz="1700" dirty="0"/>
          </a:p>
          <a:p>
            <a:pPr marL="342900" indent="-342900">
              <a:spcAft>
                <a:spcPts val="1400"/>
              </a:spcAft>
              <a:buSzPct val="100000"/>
              <a:buChar char="•"/>
            </a:pPr>
            <a:r>
              <a:rPr lang="en-US" sz="1700" dirty="0">
                <a:solidFill>
                  <a:schemeClr val="bg1"/>
                </a:solidFill>
              </a:rPr>
              <a:t>Working CLI and Streamlit web app</a:t>
            </a:r>
            <a:endParaRPr lang="en-US" sz="1700" dirty="0"/>
          </a:p>
        </p:txBody>
      </p:sp>
      <p:sp>
        <p:nvSpPr>
          <p:cNvPr id="7" name="Limitations heading"/>
          <p:cNvSpPr txBox="1"/>
          <p:nvPr/>
        </p:nvSpPr>
        <p:spPr>
          <a:xfrm>
            <a:off x="4572000" y="1554480"/>
            <a:ext cx="3017520" cy="411480"/>
          </a:xfrm>
          <a:prstGeom prst="rect">
            <a:avLst/>
          </a:prstGeom>
          <a:noFill/>
          <a:ln/>
        </p:spPr>
        <p:txBody>
          <a:bodyPr wrap="square" lIns="0" tIns="0" rIns="0" bIns="0" rtlCol="0" anchor="ctr"/>
          <a:lstStyle/>
          <a:p>
            <a:pPr marL="0" indent="0">
              <a:buNone/>
            </a:pPr>
            <a:endParaRPr lang="en-US" sz="1800" dirty="0"/>
          </a:p>
        </p:txBody>
      </p:sp>
      <p:sp>
        <p:nvSpPr>
          <p:cNvPr id="8" name="Limitations list"/>
          <p:cNvSpPr txBox="1"/>
          <p:nvPr/>
        </p:nvSpPr>
        <p:spPr>
          <a:xfrm>
            <a:off x="3063240" y="1234440"/>
            <a:ext cx="3108960" cy="2834640"/>
          </a:xfrm>
          <a:prstGeom prst="rect">
            <a:avLst/>
          </a:prstGeom>
          <a:noFill/>
          <a:ln/>
        </p:spPr>
        <p:txBody>
          <a:bodyPr wrap="square" lIns="0" tIns="0" rIns="0" bIns="0" rtlCol="0" anchor="t"/>
          <a:lstStyle/>
          <a:p>
            <a:pPr marL="342900" indent="-342900">
              <a:spcAft>
                <a:spcPts val="1400"/>
              </a:spcAft>
              <a:buSzPct val="100000"/>
              <a:buChar char="•"/>
            </a:pPr>
            <a:endParaRPr lang="en-US" sz="1700" dirty="0"/>
          </a:p>
        </p:txBody>
      </p:sp>
      <p:sp>
        <p:nvSpPr>
          <p:cNvPr id="9" name="Future work card"/>
          <p:cNvSpPr/>
          <p:nvPr/>
        </p:nvSpPr>
        <p:spPr>
          <a:xfrm>
            <a:off x="5322181" y="1325880"/>
            <a:ext cx="3566160" cy="3749040"/>
          </a:xfrm>
          <a:prstGeom prst="roundRect">
            <a:avLst>
              <a:gd name="adj" fmla="val 3077"/>
            </a:avLst>
          </a:prstGeom>
          <a:solidFill>
            <a:schemeClr val="tx2"/>
          </a:solidFill>
          <a:ln w="12700">
            <a:solidFill>
              <a:schemeClr val="tx2"/>
            </a:solidFill>
            <a:prstDash val="solid"/>
          </a:ln>
        </p:spPr>
        <p:txBody>
          <a:bodyPr/>
          <a:lstStyle/>
          <a:p>
            <a:endParaRPr lang="en-IN" dirty="0"/>
          </a:p>
        </p:txBody>
      </p:sp>
      <p:sp>
        <p:nvSpPr>
          <p:cNvPr id="10" name="Future work heading"/>
          <p:cNvSpPr txBox="1"/>
          <p:nvPr/>
        </p:nvSpPr>
        <p:spPr>
          <a:xfrm>
            <a:off x="5503195" y="1537452"/>
            <a:ext cx="3017520" cy="411480"/>
          </a:xfrm>
          <a:prstGeom prst="rect">
            <a:avLst/>
          </a:prstGeom>
          <a:noFill/>
          <a:ln/>
        </p:spPr>
        <p:txBody>
          <a:bodyPr wrap="square" lIns="0" tIns="0" rIns="0" bIns="0" rtlCol="0" anchor="ctr"/>
          <a:lstStyle/>
          <a:p>
            <a:pPr marL="0" indent="0">
              <a:buNone/>
            </a:pPr>
            <a:r>
              <a:rPr lang="en-US" sz="1800" b="1" dirty="0">
                <a:solidFill>
                  <a:schemeClr val="accent1"/>
                </a:solidFill>
              </a:rPr>
              <a:t>FUTURE WORK</a:t>
            </a:r>
            <a:endParaRPr lang="en-US" sz="1800" dirty="0"/>
          </a:p>
        </p:txBody>
      </p:sp>
      <p:sp>
        <p:nvSpPr>
          <p:cNvPr id="11" name="Future work list"/>
          <p:cNvSpPr txBox="1"/>
          <p:nvPr/>
        </p:nvSpPr>
        <p:spPr>
          <a:xfrm>
            <a:off x="5457475" y="2086092"/>
            <a:ext cx="3108960" cy="28346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bg1"/>
                </a:solidFill>
              </a:rPr>
              <a:t>Ed25519 for public verification</a:t>
            </a:r>
            <a:endParaRPr lang="en-US" sz="1700" dirty="0"/>
          </a:p>
          <a:p>
            <a:pPr marL="342900" indent="-342900">
              <a:spcAft>
                <a:spcPts val="1400"/>
              </a:spcAft>
              <a:buSzPct val="100000"/>
              <a:buChar char="•"/>
            </a:pPr>
            <a:r>
              <a:rPr lang="en-US" sz="1700" dirty="0">
                <a:solidFill>
                  <a:schemeClr val="bg1"/>
                </a:solidFill>
              </a:rPr>
              <a:t>Sync pattern for crop resistance</a:t>
            </a:r>
            <a:endParaRPr lang="en-US" sz="1700" dirty="0"/>
          </a:p>
          <a:p>
            <a:pPr marL="342900" indent="-342900">
              <a:spcAft>
                <a:spcPts val="1400"/>
              </a:spcAft>
              <a:buSzPct val="100000"/>
              <a:buChar char="•"/>
            </a:pPr>
            <a:r>
              <a:rPr lang="en-US" sz="1700" dirty="0">
                <a:solidFill>
                  <a:schemeClr val="bg1"/>
                </a:solidFill>
              </a:rPr>
              <a:t>Learned (HiDDeN-style) watermarking</a:t>
            </a:r>
            <a:endParaRPr lang="en-US" sz="1700" dirty="0"/>
          </a:p>
          <a:p>
            <a:pPr marL="342900" indent="-342900">
              <a:spcAft>
                <a:spcPts val="1400"/>
              </a:spcAft>
              <a:buSzPct val="100000"/>
              <a:buChar char="•"/>
            </a:pPr>
            <a:r>
              <a:rPr lang="en-US" sz="1700" dirty="0">
                <a:solidFill>
                  <a:schemeClr val="bg1"/>
                </a:solidFill>
              </a:rPr>
              <a:t>Real photo and Stable Diffusion tests</a:t>
            </a:r>
            <a:endParaRPr lang="en-US" sz="1700" dirty="0"/>
          </a:p>
        </p:txBody>
      </p:sp>
      <p:sp>
        <p:nvSpPr>
          <p:cNvPr id="12" name="Closing banner"/>
          <p:cNvSpPr/>
          <p:nvPr/>
        </p:nvSpPr>
        <p:spPr>
          <a:xfrm>
            <a:off x="548640" y="5349240"/>
            <a:ext cx="11018520" cy="868680"/>
          </a:xfrm>
          <a:prstGeom prst="roundRect">
            <a:avLst>
              <a:gd name="adj" fmla="val 12632"/>
            </a:avLst>
          </a:prstGeom>
          <a:solidFill>
            <a:schemeClr val="accent1"/>
          </a:solidFill>
          <a:ln w="12700">
            <a:solidFill>
              <a:schemeClr val="accent1"/>
            </a:solidFill>
            <a:prstDash val="solid"/>
          </a:ln>
        </p:spPr>
      </p:sp>
      <p:sp>
        <p:nvSpPr>
          <p:cNvPr id="13" name="Closing statement"/>
          <p:cNvSpPr txBox="1"/>
          <p:nvPr/>
        </p:nvSpPr>
        <p:spPr>
          <a:xfrm>
            <a:off x="822960" y="5349240"/>
            <a:ext cx="10469880" cy="868680"/>
          </a:xfrm>
          <a:prstGeom prst="rect">
            <a:avLst/>
          </a:prstGeom>
          <a:noFill/>
          <a:ln/>
        </p:spPr>
        <p:txBody>
          <a:bodyPr wrap="square" lIns="0" tIns="0" rIns="0" bIns="0" rtlCol="0" anchor="ctr"/>
          <a:lstStyle/>
          <a:p>
            <a:pPr marL="0" indent="0">
              <a:buNone/>
            </a:pPr>
            <a:r>
              <a:rPr lang="en-US" sz="1700" b="1" dirty="0">
                <a:solidFill>
                  <a:schemeClr val="tx1"/>
                </a:solidFill>
              </a:rPr>
              <a:t>AuthMark gives AI images a hidden, forge-proof signature: who made it, when, and exactly where it was changed.  Thank you. Questions?</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AuthMark">
  <a:themeElements>
    <a:clrScheme name="AuthMark">
      <a:dk1>
        <a:srgbClr val="0B1F3A"/>
      </a:dk1>
      <a:lt1>
        <a:srgbClr val="FFFFFF"/>
      </a:lt1>
      <a:dk2>
        <a:srgbClr val="163258"/>
      </a:dk2>
      <a:lt2>
        <a:srgbClr val="B8C7DC"/>
      </a:lt2>
      <a:accent1>
        <a:srgbClr val="14B8A6"/>
      </a:accent1>
      <a:accent2>
        <a:srgbClr val="F59E0B"/>
      </a:accent2>
      <a:accent3>
        <a:srgbClr val="22C55E"/>
      </a:accent3>
      <a:accent4>
        <a:srgbClr val="EF4444"/>
      </a:accent4>
      <a:accent5>
        <a:srgbClr val="60A5FA"/>
      </a:accent5>
      <a:accent6>
        <a:srgbClr val="A78BFA"/>
      </a:accent6>
      <a:hlink>
        <a:srgbClr val="60A5FA"/>
      </a:hlink>
      <a:folHlink>
        <a:srgbClr val="A78BFA"/>
      </a:folHlink>
    </a:clrScheme>
    <a:fontScheme name="AuthMa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TotalTime>
  <Words>1209</Words>
  <Application>Microsoft Office PowerPoint</Application>
  <PresentationFormat>Widescreen</PresentationFormat>
  <Paragraphs>146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AuthMark</vt:lpstr>
      <vt:lpstr>PowerPoint Presentation</vt:lpstr>
      <vt:lpstr>Problem Statement: Images Can No Longer Be Trusted</vt:lpstr>
      <vt:lpstr>Aim, Objectives, Scope &amp; Novelty</vt:lpstr>
      <vt:lpstr>The Full Process in Simple Words</vt:lpstr>
      <vt:lpstr>Technology Stack</vt:lpstr>
      <vt:lpstr>End-to-End Architecture</vt:lpstr>
      <vt:lpstr>Embedding Pipeline: DWT, DCT, QIM</vt:lpstr>
      <vt:lpstr>Verification and Tamper-Localization Flow</vt:lpstr>
      <vt:lpstr>Metrics, Validation and Verification Results</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AuthMark - AI Image Authenticity Verification</dc:title>
  <dc:subject>PptxGenJS Presentation</dc:subject>
  <dc:creator>Gaurish Todi, Prakamya Bhuvi</dc:creator>
  <cp:lastModifiedBy>Gaurish Todi</cp:lastModifiedBy>
  <cp:revision>7</cp:revision>
  <dcterms:created xsi:type="dcterms:W3CDTF">2026-10-24T06:11:02Z</dcterms:created>
  <dcterms:modified xsi:type="dcterms:W3CDTF">2026-10-24T16:58:31Z</dcterms:modified>
</cp:coreProperties>
</file>